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1388388" cy="30275213"/>
  <p:notesSz cx="30275213" cy="213883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3" d="100"/>
          <a:sy n="23" d="100"/>
        </p:scale>
        <p:origin x="325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313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387816" cy="3566160"/>
          </a:xfrm>
          <a:prstGeom prst="rect">
            <a:avLst/>
          </a:prstGeom>
          <a:solidFill>
            <a:srgbClr val="1F3864"/>
          </a:solidFill>
          <a:ln w="12700">
            <a:solidFill>
              <a:srgbClr val="1F3864"/>
            </a:solidFill>
            <a:prstDash val="solid"/>
          </a:ln>
        </p:spPr>
        <p:txBody>
          <a:bodyPr/>
          <a:lstStyle/>
          <a:p>
            <a:endParaRPr lang="en-IE"/>
          </a:p>
        </p:txBody>
      </p:sp>
      <p:sp>
        <p:nvSpPr>
          <p:cNvPr id="3" name="Shape 1"/>
          <p:cNvSpPr/>
          <p:nvPr/>
        </p:nvSpPr>
        <p:spPr>
          <a:xfrm>
            <a:off x="0" y="3456432"/>
            <a:ext cx="21387816" cy="109728"/>
          </a:xfrm>
          <a:prstGeom prst="rect">
            <a:avLst/>
          </a:prstGeom>
          <a:solidFill>
            <a:srgbClr val="C0504D"/>
          </a:solidFill>
          <a:ln w="12700">
            <a:solidFill>
              <a:srgbClr val="C0504D"/>
            </a:solidFill>
            <a:prstDash val="solid"/>
          </a:ln>
        </p:spPr>
        <p:txBody>
          <a:bodyPr/>
          <a:lstStyle/>
          <a:p>
            <a:endParaRPr lang="en-IE"/>
          </a:p>
        </p:txBody>
      </p:sp>
      <p:sp>
        <p:nvSpPr>
          <p:cNvPr id="4" name="Text 2"/>
          <p:cNvSpPr/>
          <p:nvPr/>
        </p:nvSpPr>
        <p:spPr>
          <a:xfrm>
            <a:off x="365760" y="274320"/>
            <a:ext cx="4572000"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MTU Cork</a:t>
            </a:r>
            <a:endParaRPr lang="en-US" sz="3000" dirty="0"/>
          </a:p>
        </p:txBody>
      </p:sp>
      <p:sp>
        <p:nvSpPr>
          <p:cNvPr id="5" name="Text 3"/>
          <p:cNvSpPr/>
          <p:nvPr/>
        </p:nvSpPr>
        <p:spPr>
          <a:xfrm>
            <a:off x="365760" y="960120"/>
            <a:ext cx="5486400" cy="457200"/>
          </a:xfrm>
          <a:prstGeom prst="rect">
            <a:avLst/>
          </a:prstGeom>
          <a:noFill/>
          <a:ln/>
        </p:spPr>
        <p:txBody>
          <a:bodyPr wrap="square" lIns="0" tIns="0" rIns="0" bIns="0" rtlCol="0" anchor="ctr"/>
          <a:lstStyle/>
          <a:p>
            <a:pPr marL="0" indent="0" algn="l">
              <a:buNone/>
            </a:pPr>
            <a:r>
              <a:rPr lang="en-US" sz="1900" dirty="0">
                <a:solidFill>
                  <a:srgbClr val="CADCFC"/>
                </a:solidFill>
                <a:latin typeface="Calibri" pitchFamily="34" charset="0"/>
                <a:ea typeface="Calibri" pitchFamily="34" charset="-122"/>
                <a:cs typeface="Calibri" pitchFamily="34" charset="-120"/>
              </a:rPr>
              <a:t>Department of Computer Science</a:t>
            </a:r>
            <a:endParaRPr lang="en-US" sz="1900" dirty="0"/>
          </a:p>
        </p:txBody>
      </p:sp>
      <p:sp>
        <p:nvSpPr>
          <p:cNvPr id="6" name="Text 4"/>
          <p:cNvSpPr/>
          <p:nvPr/>
        </p:nvSpPr>
        <p:spPr>
          <a:xfrm>
            <a:off x="1737360" y="228600"/>
            <a:ext cx="17913096" cy="1554480"/>
          </a:xfrm>
          <a:prstGeom prst="rect">
            <a:avLst/>
          </a:prstGeom>
          <a:noFill/>
          <a:ln/>
        </p:spPr>
        <p:txBody>
          <a:bodyPr wrap="square" lIns="0" tIns="0" rIns="0" bIns="0" rtlCol="0" anchor="ctr"/>
          <a:lstStyle/>
          <a:p>
            <a:pPr marL="0" indent="0" algn="ctr">
              <a:buNone/>
            </a:pPr>
            <a:r>
              <a:rPr lang="en-US" sz="6200" b="1" dirty="0">
                <a:solidFill>
                  <a:srgbClr val="FFFFFF"/>
                </a:solidFill>
                <a:latin typeface="Calibri" pitchFamily="34" charset="0"/>
                <a:ea typeface="Calibri" pitchFamily="34" charset="-122"/>
                <a:cs typeface="Calibri" pitchFamily="34" charset="-120"/>
              </a:rPr>
              <a:t>ELA: English Language Analysis Pipeline</a:t>
            </a:r>
            <a:endParaRPr lang="en-US" sz="6200" dirty="0"/>
          </a:p>
        </p:txBody>
      </p:sp>
      <p:sp>
        <p:nvSpPr>
          <p:cNvPr id="7" name="Text 5"/>
          <p:cNvSpPr/>
          <p:nvPr/>
        </p:nvSpPr>
        <p:spPr>
          <a:xfrm>
            <a:off x="1737360" y="1828800"/>
            <a:ext cx="17913096" cy="685800"/>
          </a:xfrm>
          <a:prstGeom prst="rect">
            <a:avLst/>
          </a:prstGeom>
          <a:noFill/>
          <a:ln/>
        </p:spPr>
        <p:txBody>
          <a:bodyPr wrap="square" lIns="0" tIns="0" rIns="0" bIns="0" rtlCol="0" anchor="ctr"/>
          <a:lstStyle/>
          <a:p>
            <a:pPr marL="0" indent="0" algn="ctr">
              <a:buNone/>
            </a:pPr>
            <a:r>
              <a:rPr lang="en-US" sz="2500" dirty="0">
                <a:solidFill>
                  <a:srgbClr val="F5C518"/>
                </a:solidFill>
                <a:latin typeface="Calibri" pitchFamily="34" charset="0"/>
                <a:ea typeface="Calibri" pitchFamily="34" charset="-122"/>
                <a:cs typeface="Calibri" pitchFamily="34" charset="-120"/>
              </a:rPr>
              <a:t>An AI-Powered Hierarchical Linguistic Contract System for Text, Audio &amp; Video</a:t>
            </a:r>
            <a:endParaRPr lang="en-US" sz="2500" dirty="0"/>
          </a:p>
        </p:txBody>
      </p:sp>
      <p:sp>
        <p:nvSpPr>
          <p:cNvPr id="8" name="Text 6"/>
          <p:cNvSpPr/>
          <p:nvPr/>
        </p:nvSpPr>
        <p:spPr>
          <a:xfrm>
            <a:off x="1737360" y="2606040"/>
            <a:ext cx="17913096" cy="50292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Vladyslav Rastvorov, BSc Honours in Computer Science   |   MTU Cork   |   May 2025</a:t>
            </a:r>
            <a:endParaRPr lang="en-US" sz="2000" dirty="0"/>
          </a:p>
        </p:txBody>
      </p:sp>
      <p:sp>
        <p:nvSpPr>
          <p:cNvPr id="9" name="Shape 7"/>
          <p:cNvSpPr/>
          <p:nvPr/>
        </p:nvSpPr>
        <p:spPr>
          <a:xfrm>
            <a:off x="365760" y="3840480"/>
            <a:ext cx="20656296" cy="4206240"/>
          </a:xfrm>
          <a:prstGeom prst="rect">
            <a:avLst/>
          </a:prstGeom>
          <a:solidFill>
            <a:srgbClr val="DCE6F1"/>
          </a:solidFill>
          <a:ln w="19050">
            <a:solidFill>
              <a:srgbClr val="9DC3E6"/>
            </a:solidFill>
            <a:prstDash val="solid"/>
          </a:ln>
        </p:spPr>
        <p:txBody>
          <a:bodyPr/>
          <a:lstStyle/>
          <a:p>
            <a:endParaRPr lang="en-IE"/>
          </a:p>
        </p:txBody>
      </p:sp>
      <p:sp>
        <p:nvSpPr>
          <p:cNvPr id="10" name="Shape 8"/>
          <p:cNvSpPr/>
          <p:nvPr/>
        </p:nvSpPr>
        <p:spPr>
          <a:xfrm>
            <a:off x="365760" y="3840480"/>
            <a:ext cx="164592" cy="4206240"/>
          </a:xfrm>
          <a:prstGeom prst="rect">
            <a:avLst/>
          </a:prstGeom>
          <a:solidFill>
            <a:srgbClr val="C0504D"/>
          </a:solidFill>
          <a:ln w="12700">
            <a:solidFill>
              <a:srgbClr val="C0504D"/>
            </a:solidFill>
            <a:prstDash val="solid"/>
          </a:ln>
        </p:spPr>
        <p:txBody>
          <a:bodyPr/>
          <a:lstStyle/>
          <a:p>
            <a:endParaRPr lang="en-IE"/>
          </a:p>
        </p:txBody>
      </p:sp>
      <p:sp>
        <p:nvSpPr>
          <p:cNvPr id="11" name="Text 9"/>
          <p:cNvSpPr/>
          <p:nvPr/>
        </p:nvSpPr>
        <p:spPr>
          <a:xfrm>
            <a:off x="685800" y="4023360"/>
            <a:ext cx="20153376" cy="640080"/>
          </a:xfrm>
          <a:prstGeom prst="rect">
            <a:avLst/>
          </a:prstGeom>
          <a:noFill/>
          <a:ln/>
        </p:spPr>
        <p:txBody>
          <a:bodyPr wrap="square" lIns="0" tIns="0" rIns="0" bIns="0" rtlCol="0" anchor="ctr"/>
          <a:lstStyle/>
          <a:p>
            <a:pPr marL="0" indent="0" algn="l">
              <a:buNone/>
            </a:pPr>
            <a:r>
              <a:rPr lang="en-US" sz="3400" b="1" dirty="0">
                <a:solidFill>
                  <a:srgbClr val="C0504D"/>
                </a:solidFill>
                <a:latin typeface="Calibri" pitchFamily="34" charset="0"/>
                <a:ea typeface="Calibri" pitchFamily="34" charset="-122"/>
                <a:cs typeface="Calibri" pitchFamily="34" charset="-120"/>
              </a:rPr>
              <a:t>Introduction</a:t>
            </a:r>
            <a:endParaRPr lang="en-US" sz="3400" dirty="0"/>
          </a:p>
        </p:txBody>
      </p:sp>
      <p:sp>
        <p:nvSpPr>
          <p:cNvPr id="12" name="Text 10"/>
          <p:cNvSpPr/>
          <p:nvPr/>
        </p:nvSpPr>
        <p:spPr>
          <a:xfrm>
            <a:off x="685800" y="4800600"/>
            <a:ext cx="20153376" cy="3017520"/>
          </a:xfrm>
          <a:prstGeom prst="rect">
            <a:avLst/>
          </a:prstGeom>
          <a:noFill/>
          <a:ln/>
        </p:spPr>
        <p:txBody>
          <a:bodyPr wrap="square" lIns="0" tIns="0" rIns="0" bIns="0" rtlCol="0" anchor="t"/>
          <a:lstStyle/>
          <a:p>
            <a:pPr marL="0" indent="0" algn="just">
              <a:buNone/>
            </a:pPr>
            <a:r>
              <a:rPr lang="en-US" sz="2300" dirty="0">
                <a:solidFill>
                  <a:srgbClr val="1F1F1F"/>
                </a:solidFill>
                <a:latin typeface="Calibri" pitchFamily="34" charset="0"/>
                <a:ea typeface="Calibri" pitchFamily="34" charset="-122"/>
                <a:cs typeface="Calibri" pitchFamily="34" charset="-120"/>
              </a:rPr>
              <a:t>The ELA (English Language Assistant) system investigates how hybrid NLP and Generative AI can support bilingual comprehension of authentic English materials without simplification. ELA transforms real-world media — text, audio, and video — into structured Recursive Linguistic Elements (RLE): hierarchical JSON representations at Sentence → Phrase → Word granularity, linking syntax, translation, CEFR level, and contextual notes. The system integrates deterministic NLP (spaCy, CoreNLP) with ML-based annotation to enable cognitive scaffolding for language learners. Deployed as an Android-installable Progressive Web App (PWA) and a Tauri 2 desktop application (Linux .deb), both running fully client-side with no cloud dependency.</a:t>
            </a:r>
            <a:endParaRPr lang="en-US" sz="2300" dirty="0"/>
          </a:p>
        </p:txBody>
      </p:sp>
      <p:sp>
        <p:nvSpPr>
          <p:cNvPr id="13" name="Shape 11"/>
          <p:cNvSpPr/>
          <p:nvPr/>
        </p:nvSpPr>
        <p:spPr>
          <a:xfrm>
            <a:off x="365760" y="8321040"/>
            <a:ext cx="10145268" cy="12801600"/>
          </a:xfrm>
          <a:prstGeom prst="rect">
            <a:avLst/>
          </a:prstGeom>
          <a:solidFill>
            <a:srgbClr val="F4F9FF"/>
          </a:solidFill>
          <a:ln w="19050">
            <a:solidFill>
              <a:srgbClr val="9DC3E6"/>
            </a:solidFill>
            <a:prstDash val="solid"/>
          </a:ln>
        </p:spPr>
        <p:txBody>
          <a:bodyPr/>
          <a:lstStyle/>
          <a:p>
            <a:endParaRPr lang="en-IE"/>
          </a:p>
        </p:txBody>
      </p:sp>
      <p:sp>
        <p:nvSpPr>
          <p:cNvPr id="14" name="Shape 12"/>
          <p:cNvSpPr/>
          <p:nvPr/>
        </p:nvSpPr>
        <p:spPr>
          <a:xfrm>
            <a:off x="365760" y="8321040"/>
            <a:ext cx="10145268" cy="777240"/>
          </a:xfrm>
          <a:prstGeom prst="rect">
            <a:avLst/>
          </a:prstGeom>
          <a:solidFill>
            <a:srgbClr val="2E75B6"/>
          </a:solidFill>
          <a:ln w="12700">
            <a:solidFill>
              <a:srgbClr val="2E75B6"/>
            </a:solidFill>
            <a:prstDash val="solid"/>
          </a:ln>
        </p:spPr>
        <p:txBody>
          <a:bodyPr/>
          <a:lstStyle/>
          <a:p>
            <a:endParaRPr lang="en-IE"/>
          </a:p>
        </p:txBody>
      </p:sp>
      <p:sp>
        <p:nvSpPr>
          <p:cNvPr id="15" name="Text 13"/>
          <p:cNvSpPr/>
          <p:nvPr/>
        </p:nvSpPr>
        <p:spPr>
          <a:xfrm>
            <a:off x="548640" y="8412480"/>
            <a:ext cx="9779508"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NLP Core Pipeline</a:t>
            </a:r>
            <a:endParaRPr lang="en-US" sz="3000" dirty="0"/>
          </a:p>
        </p:txBody>
      </p:sp>
      <p:sp>
        <p:nvSpPr>
          <p:cNvPr id="16" name="Text 14"/>
          <p:cNvSpPr/>
          <p:nvPr/>
        </p:nvSpPr>
        <p:spPr>
          <a:xfrm>
            <a:off x="594360" y="9281160"/>
            <a:ext cx="9688068" cy="4206240"/>
          </a:xfrm>
          <a:prstGeom prst="rect">
            <a:avLst/>
          </a:prstGeom>
          <a:noFill/>
          <a:ln/>
        </p:spPr>
        <p:txBody>
          <a:bodyPr wrap="square" lIns="0" tIns="0" rIns="0" bIns="0" rtlCol="0" anchor="t"/>
          <a:lstStyle/>
          <a:p>
            <a:pPr marL="0" indent="0" algn="l">
              <a:buNone/>
            </a:pPr>
            <a:r>
              <a:rPr lang="en-US" sz="2200" dirty="0">
                <a:solidFill>
                  <a:srgbClr val="1F1F1F"/>
                </a:solidFill>
                <a:latin typeface="Calibri" pitchFamily="34" charset="0"/>
                <a:ea typeface="Calibri" pitchFamily="34" charset="-122"/>
                <a:cs typeface="Calibri" pitchFamily="34" charset="-120"/>
              </a:rPr>
              <a:t>The parsing engine uses spaCy 3.7 for deterministic sentence segmentation, dependency parsing, and morphological analysis. A rule-based Tense-Aspect-Mood (TAM) engine extracts grammatical tense (present/past/future), aspect (simple/progressive/perfect), mood (indicative/subjunctive/imperative), voice (active/passive), and finiteness from each clause.</a:t>
            </a:r>
            <a:endParaRPr lang="en-US" sz="2200" dirty="0"/>
          </a:p>
          <a:p>
            <a:pPr marL="0" indent="0" algn="l">
              <a:buNone/>
            </a:pPr>
            <a:endParaRPr lang="en-US" sz="2200" dirty="0"/>
          </a:p>
          <a:p>
            <a:pPr marL="0" indent="0" algn="l">
              <a:buNone/>
            </a:pPr>
            <a:r>
              <a:rPr lang="en-US" sz="2200" dirty="0">
                <a:solidFill>
                  <a:srgbClr val="1F1F1F"/>
                </a:solidFill>
                <a:latin typeface="Calibri" pitchFamily="34" charset="0"/>
                <a:ea typeface="Calibri" pitchFamily="34" charset="-122"/>
                <a:cs typeface="Calibri" pitchFamily="34" charset="-120"/>
              </a:rPr>
              <a:t>A phrase pattern matcher groups words into linguistically motivated phrases (NP, VP, PP, ADJP), forming the three-level hierarchy: Sentence → Phrase → Word. All structural annotations are validated against a dual-schema contract (v1 and v2_strict) before persisting to the local or shared database.</a:t>
            </a:r>
            <a:endParaRPr lang="en-US" sz="2200" dirty="0"/>
          </a:p>
        </p:txBody>
      </p:sp>
      <p:sp>
        <p:nvSpPr>
          <p:cNvPr id="17" name="Shape 15"/>
          <p:cNvSpPr/>
          <p:nvPr/>
        </p:nvSpPr>
        <p:spPr>
          <a:xfrm>
            <a:off x="685800" y="13716000"/>
            <a:ext cx="9505188" cy="6858000"/>
          </a:xfrm>
          <a:prstGeom prst="rect">
            <a:avLst/>
          </a:prstGeom>
          <a:solidFill>
            <a:srgbClr val="EBF3FB"/>
          </a:solidFill>
          <a:ln w="19050">
            <a:solidFill>
              <a:srgbClr val="4472C4"/>
            </a:solidFill>
            <a:prstDash val="solid"/>
          </a:ln>
        </p:spPr>
        <p:txBody>
          <a:bodyPr/>
          <a:lstStyle/>
          <a:p>
            <a:endParaRPr lang="en-IE"/>
          </a:p>
        </p:txBody>
      </p:sp>
      <p:sp>
        <p:nvSpPr>
          <p:cNvPr id="18" name="Text 16"/>
          <p:cNvSpPr/>
          <p:nvPr/>
        </p:nvSpPr>
        <p:spPr>
          <a:xfrm>
            <a:off x="685800" y="13853160"/>
            <a:ext cx="9505188" cy="502920"/>
          </a:xfrm>
          <a:prstGeom prst="rect">
            <a:avLst/>
          </a:prstGeom>
          <a:noFill/>
          <a:ln/>
        </p:spPr>
        <p:txBody>
          <a:bodyPr wrap="square" lIns="0" tIns="0" rIns="0" bIns="0" rtlCol="0" anchor="ctr"/>
          <a:lstStyle/>
          <a:p>
            <a:pPr marL="0" indent="0" algn="ctr">
              <a:buNone/>
            </a:pPr>
            <a:r>
              <a:rPr lang="en-US" sz="2300" b="1" dirty="0">
                <a:solidFill>
                  <a:srgbClr val="4472C4"/>
                </a:solidFill>
                <a:latin typeface="Calibri" pitchFamily="34" charset="0"/>
                <a:ea typeface="Calibri" pitchFamily="34" charset="-122"/>
                <a:cs typeface="Calibri" pitchFamily="34" charset="-120"/>
              </a:rPr>
              <a:t>Pipeline Flow</a:t>
            </a:r>
            <a:endParaRPr lang="en-US" sz="2300" dirty="0"/>
          </a:p>
        </p:txBody>
      </p:sp>
      <p:sp>
        <p:nvSpPr>
          <p:cNvPr id="19" name="Shape 17"/>
          <p:cNvSpPr/>
          <p:nvPr/>
        </p:nvSpPr>
        <p:spPr>
          <a:xfrm>
            <a:off x="914400" y="14493240"/>
            <a:ext cx="9047988" cy="658368"/>
          </a:xfrm>
          <a:prstGeom prst="rect">
            <a:avLst/>
          </a:prstGeom>
          <a:solidFill>
            <a:srgbClr val="2E75B6"/>
          </a:solidFill>
          <a:ln w="12700">
            <a:solidFill>
              <a:srgbClr val="2E75B6"/>
            </a:solidFill>
            <a:prstDash val="solid"/>
          </a:ln>
        </p:spPr>
        <p:txBody>
          <a:bodyPr/>
          <a:lstStyle/>
          <a:p>
            <a:endParaRPr lang="en-IE"/>
          </a:p>
        </p:txBody>
      </p:sp>
      <p:sp>
        <p:nvSpPr>
          <p:cNvPr id="20" name="Text 18"/>
          <p:cNvSpPr/>
          <p:nvPr/>
        </p:nvSpPr>
        <p:spPr>
          <a:xfrm>
            <a:off x="914400" y="14493240"/>
            <a:ext cx="9047988" cy="65836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① Input Text / Media</a:t>
            </a:r>
            <a:endParaRPr lang="en-US" sz="2100" dirty="0"/>
          </a:p>
        </p:txBody>
      </p:sp>
      <p:sp>
        <p:nvSpPr>
          <p:cNvPr id="21" name="Text 19"/>
          <p:cNvSpPr/>
          <p:nvPr/>
        </p:nvSpPr>
        <p:spPr>
          <a:xfrm>
            <a:off x="5209794" y="15334488"/>
            <a:ext cx="457200" cy="292608"/>
          </a:xfrm>
          <a:prstGeom prst="rect">
            <a:avLst/>
          </a:prstGeom>
          <a:noFill/>
          <a:ln/>
        </p:spPr>
        <p:txBody>
          <a:bodyPr wrap="square" lIns="0" tIns="0" rIns="0" bIns="0" rtlCol="0" anchor="ctr"/>
          <a:lstStyle/>
          <a:p>
            <a:pPr marL="0" indent="0" algn="ctr">
              <a:buNone/>
            </a:pPr>
            <a:r>
              <a:rPr lang="en-US" sz="1800" dirty="0">
                <a:solidFill>
                  <a:srgbClr val="4472C4"/>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914400" y="15627096"/>
            <a:ext cx="9047988" cy="658368"/>
          </a:xfrm>
          <a:prstGeom prst="rect">
            <a:avLst/>
          </a:prstGeom>
          <a:solidFill>
            <a:srgbClr val="375623"/>
          </a:solidFill>
          <a:ln w="12700">
            <a:solidFill>
              <a:srgbClr val="375623"/>
            </a:solidFill>
            <a:prstDash val="solid"/>
          </a:ln>
        </p:spPr>
        <p:txBody>
          <a:bodyPr/>
          <a:lstStyle/>
          <a:p>
            <a:endParaRPr lang="en-IE"/>
          </a:p>
        </p:txBody>
      </p:sp>
      <p:sp>
        <p:nvSpPr>
          <p:cNvPr id="23" name="Text 21"/>
          <p:cNvSpPr/>
          <p:nvPr/>
        </p:nvSpPr>
        <p:spPr>
          <a:xfrm>
            <a:off x="914400" y="15627096"/>
            <a:ext cx="9047988" cy="65836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② spaCy Parser</a:t>
            </a:r>
            <a:endParaRPr lang="en-US" sz="2100" dirty="0"/>
          </a:p>
        </p:txBody>
      </p:sp>
      <p:sp>
        <p:nvSpPr>
          <p:cNvPr id="24" name="Text 22"/>
          <p:cNvSpPr/>
          <p:nvPr/>
        </p:nvSpPr>
        <p:spPr>
          <a:xfrm>
            <a:off x="5209794" y="16468344"/>
            <a:ext cx="457200" cy="292608"/>
          </a:xfrm>
          <a:prstGeom prst="rect">
            <a:avLst/>
          </a:prstGeom>
          <a:noFill/>
          <a:ln/>
        </p:spPr>
        <p:txBody>
          <a:bodyPr wrap="square" lIns="0" tIns="0" rIns="0" bIns="0" rtlCol="0" anchor="ctr"/>
          <a:lstStyle/>
          <a:p>
            <a:pPr marL="0" indent="0" algn="ctr">
              <a:buNone/>
            </a:pPr>
            <a:r>
              <a:rPr lang="en-US" sz="1800" dirty="0">
                <a:solidFill>
                  <a:srgbClr val="4472C4"/>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914400" y="16760952"/>
            <a:ext cx="9047988" cy="658368"/>
          </a:xfrm>
          <a:prstGeom prst="rect">
            <a:avLst/>
          </a:prstGeom>
          <a:solidFill>
            <a:srgbClr val="7B2C2C"/>
          </a:solidFill>
          <a:ln w="12700">
            <a:solidFill>
              <a:srgbClr val="7B2C2C"/>
            </a:solidFill>
            <a:prstDash val="solid"/>
          </a:ln>
        </p:spPr>
        <p:txBody>
          <a:bodyPr/>
          <a:lstStyle/>
          <a:p>
            <a:endParaRPr lang="en-IE"/>
          </a:p>
        </p:txBody>
      </p:sp>
      <p:sp>
        <p:nvSpPr>
          <p:cNvPr id="26" name="Text 24"/>
          <p:cNvSpPr/>
          <p:nvPr/>
        </p:nvSpPr>
        <p:spPr>
          <a:xfrm>
            <a:off x="914400" y="16760952"/>
            <a:ext cx="9047988" cy="65836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③ TAM Rules Engine</a:t>
            </a:r>
            <a:endParaRPr lang="en-US" sz="2100" dirty="0"/>
          </a:p>
        </p:txBody>
      </p:sp>
      <p:sp>
        <p:nvSpPr>
          <p:cNvPr id="27" name="Text 25"/>
          <p:cNvSpPr/>
          <p:nvPr/>
        </p:nvSpPr>
        <p:spPr>
          <a:xfrm>
            <a:off x="5209794" y="17602200"/>
            <a:ext cx="457200" cy="292608"/>
          </a:xfrm>
          <a:prstGeom prst="rect">
            <a:avLst/>
          </a:prstGeom>
          <a:noFill/>
          <a:ln/>
        </p:spPr>
        <p:txBody>
          <a:bodyPr wrap="square" lIns="0" tIns="0" rIns="0" bIns="0" rtlCol="0" anchor="ctr"/>
          <a:lstStyle/>
          <a:p>
            <a:pPr marL="0" indent="0" algn="ctr">
              <a:buNone/>
            </a:pPr>
            <a:r>
              <a:rPr lang="en-US" sz="1800" dirty="0">
                <a:solidFill>
                  <a:srgbClr val="4472C4"/>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14400" y="17894808"/>
            <a:ext cx="9047988" cy="658368"/>
          </a:xfrm>
          <a:prstGeom prst="rect">
            <a:avLst/>
          </a:prstGeom>
          <a:solidFill>
            <a:srgbClr val="833C00"/>
          </a:solidFill>
          <a:ln w="12700">
            <a:solidFill>
              <a:srgbClr val="833C00"/>
            </a:solidFill>
            <a:prstDash val="solid"/>
          </a:ln>
        </p:spPr>
        <p:txBody>
          <a:bodyPr/>
          <a:lstStyle/>
          <a:p>
            <a:endParaRPr lang="en-IE"/>
          </a:p>
        </p:txBody>
      </p:sp>
      <p:sp>
        <p:nvSpPr>
          <p:cNvPr id="29" name="Text 27"/>
          <p:cNvSpPr/>
          <p:nvPr/>
        </p:nvSpPr>
        <p:spPr>
          <a:xfrm>
            <a:off x="914400" y="17894808"/>
            <a:ext cx="9047988" cy="65836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④ Phrase Builder</a:t>
            </a:r>
            <a:endParaRPr lang="en-US" sz="2100" dirty="0"/>
          </a:p>
        </p:txBody>
      </p:sp>
      <p:sp>
        <p:nvSpPr>
          <p:cNvPr id="30" name="Text 28"/>
          <p:cNvSpPr/>
          <p:nvPr/>
        </p:nvSpPr>
        <p:spPr>
          <a:xfrm>
            <a:off x="5209794" y="18736056"/>
            <a:ext cx="457200" cy="292608"/>
          </a:xfrm>
          <a:prstGeom prst="rect">
            <a:avLst/>
          </a:prstGeom>
          <a:noFill/>
          <a:ln/>
        </p:spPr>
        <p:txBody>
          <a:bodyPr wrap="square" lIns="0" tIns="0" rIns="0" bIns="0" rtlCol="0" anchor="ctr"/>
          <a:lstStyle/>
          <a:p>
            <a:pPr marL="0" indent="0" algn="ctr">
              <a:buNone/>
            </a:pPr>
            <a:r>
              <a:rPr lang="en-US" sz="1800" dirty="0">
                <a:solidFill>
                  <a:srgbClr val="4472C4"/>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914400" y="19028664"/>
            <a:ext cx="9047988" cy="658368"/>
          </a:xfrm>
          <a:prstGeom prst="rect">
            <a:avLst/>
          </a:prstGeom>
          <a:solidFill>
            <a:srgbClr val="203864"/>
          </a:solidFill>
          <a:ln w="12700">
            <a:solidFill>
              <a:srgbClr val="203864"/>
            </a:solidFill>
            <a:prstDash val="solid"/>
          </a:ln>
        </p:spPr>
        <p:txBody>
          <a:bodyPr/>
          <a:lstStyle/>
          <a:p>
            <a:endParaRPr lang="en-IE"/>
          </a:p>
        </p:txBody>
      </p:sp>
      <p:sp>
        <p:nvSpPr>
          <p:cNvPr id="32" name="Text 30"/>
          <p:cNvSpPr/>
          <p:nvPr/>
        </p:nvSpPr>
        <p:spPr>
          <a:xfrm>
            <a:off x="914400" y="19028664"/>
            <a:ext cx="9047988" cy="65836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⑤ Contract Validator</a:t>
            </a:r>
            <a:endParaRPr lang="en-US" sz="2100" dirty="0"/>
          </a:p>
        </p:txBody>
      </p:sp>
      <p:sp>
        <p:nvSpPr>
          <p:cNvPr id="33" name="Text 31"/>
          <p:cNvSpPr/>
          <p:nvPr/>
        </p:nvSpPr>
        <p:spPr>
          <a:xfrm>
            <a:off x="5209794" y="19869912"/>
            <a:ext cx="457200" cy="292608"/>
          </a:xfrm>
          <a:prstGeom prst="rect">
            <a:avLst/>
          </a:prstGeom>
          <a:noFill/>
          <a:ln/>
        </p:spPr>
        <p:txBody>
          <a:bodyPr wrap="square" lIns="0" tIns="0" rIns="0" bIns="0" rtlCol="0" anchor="ctr"/>
          <a:lstStyle/>
          <a:p>
            <a:pPr marL="0" indent="0" algn="ctr">
              <a:buNone/>
            </a:pPr>
            <a:r>
              <a:rPr lang="en-US" sz="1800" dirty="0">
                <a:solidFill>
                  <a:srgbClr val="4472C4"/>
                </a:solidFill>
                <a:latin typeface="Calibri" pitchFamily="34" charset="0"/>
                <a:ea typeface="Calibri" pitchFamily="34" charset="-122"/>
                <a:cs typeface="Calibri" pitchFamily="34" charset="-120"/>
              </a:rPr>
              <a:t>▼</a:t>
            </a:r>
            <a:endParaRPr lang="en-US" sz="1800" dirty="0"/>
          </a:p>
        </p:txBody>
      </p:sp>
      <p:sp>
        <p:nvSpPr>
          <p:cNvPr id="34" name="Shape 32"/>
          <p:cNvSpPr/>
          <p:nvPr/>
        </p:nvSpPr>
        <p:spPr>
          <a:xfrm>
            <a:off x="914400" y="20162520"/>
            <a:ext cx="9047988" cy="658368"/>
          </a:xfrm>
          <a:prstGeom prst="rect">
            <a:avLst/>
          </a:prstGeom>
          <a:solidFill>
            <a:srgbClr val="375623"/>
          </a:solidFill>
          <a:ln w="12700">
            <a:solidFill>
              <a:srgbClr val="375623"/>
            </a:solidFill>
            <a:prstDash val="solid"/>
          </a:ln>
        </p:spPr>
        <p:txBody>
          <a:bodyPr/>
          <a:lstStyle/>
          <a:p>
            <a:endParaRPr lang="en-IE"/>
          </a:p>
        </p:txBody>
      </p:sp>
      <p:sp>
        <p:nvSpPr>
          <p:cNvPr id="35" name="Text 33"/>
          <p:cNvSpPr/>
          <p:nvPr/>
        </p:nvSpPr>
        <p:spPr>
          <a:xfrm>
            <a:off x="914400" y="20162520"/>
            <a:ext cx="9047988" cy="658368"/>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⑥ JSON Contract Output</a:t>
            </a:r>
            <a:endParaRPr lang="en-US" sz="2100" dirty="0"/>
          </a:p>
        </p:txBody>
      </p:sp>
      <p:sp>
        <p:nvSpPr>
          <p:cNvPr id="36" name="Shape 34"/>
          <p:cNvSpPr/>
          <p:nvPr/>
        </p:nvSpPr>
        <p:spPr>
          <a:xfrm>
            <a:off x="10876788" y="8321040"/>
            <a:ext cx="10145268" cy="12801600"/>
          </a:xfrm>
          <a:prstGeom prst="rect">
            <a:avLst/>
          </a:prstGeom>
          <a:solidFill>
            <a:srgbClr val="F4F9FF"/>
          </a:solidFill>
          <a:ln w="19050">
            <a:solidFill>
              <a:srgbClr val="9DC3E6"/>
            </a:solidFill>
            <a:prstDash val="solid"/>
          </a:ln>
        </p:spPr>
        <p:txBody>
          <a:bodyPr/>
          <a:lstStyle/>
          <a:p>
            <a:endParaRPr lang="en-IE"/>
          </a:p>
        </p:txBody>
      </p:sp>
      <p:sp>
        <p:nvSpPr>
          <p:cNvPr id="37" name="Shape 35"/>
          <p:cNvSpPr/>
          <p:nvPr/>
        </p:nvSpPr>
        <p:spPr>
          <a:xfrm>
            <a:off x="10876788" y="8321040"/>
            <a:ext cx="10145268" cy="777240"/>
          </a:xfrm>
          <a:prstGeom prst="rect">
            <a:avLst/>
          </a:prstGeom>
          <a:solidFill>
            <a:srgbClr val="C0504D"/>
          </a:solidFill>
          <a:ln w="12700">
            <a:solidFill>
              <a:srgbClr val="C0504D"/>
            </a:solidFill>
            <a:prstDash val="solid"/>
          </a:ln>
        </p:spPr>
        <p:txBody>
          <a:bodyPr/>
          <a:lstStyle/>
          <a:p>
            <a:endParaRPr lang="en-IE"/>
          </a:p>
        </p:txBody>
      </p:sp>
      <p:sp>
        <p:nvSpPr>
          <p:cNvPr id="38" name="Text 36"/>
          <p:cNvSpPr/>
          <p:nvPr/>
        </p:nvSpPr>
        <p:spPr>
          <a:xfrm>
            <a:off x="11059668" y="8412480"/>
            <a:ext cx="9779508"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Machine Learning Components</a:t>
            </a:r>
            <a:endParaRPr lang="en-US" sz="3000" dirty="0"/>
          </a:p>
        </p:txBody>
      </p:sp>
      <p:sp>
        <p:nvSpPr>
          <p:cNvPr id="39" name="Text 37"/>
          <p:cNvSpPr/>
          <p:nvPr/>
        </p:nvSpPr>
        <p:spPr>
          <a:xfrm>
            <a:off x="11105388" y="9281160"/>
            <a:ext cx="9688068" cy="5212080"/>
          </a:xfrm>
          <a:prstGeom prst="rect">
            <a:avLst/>
          </a:prstGeom>
          <a:noFill/>
          <a:ln/>
        </p:spPr>
        <p:txBody>
          <a:bodyPr wrap="square" lIns="0" tIns="0" rIns="0" bIns="0" rtlCol="0" anchor="t"/>
          <a:lstStyle/>
          <a:p>
            <a:pPr marL="0" indent="0" algn="l">
              <a:buNone/>
            </a:pPr>
            <a:r>
              <a:rPr lang="en-US" sz="2200" dirty="0">
                <a:solidFill>
                  <a:srgbClr val="1F1F1F"/>
                </a:solidFill>
                <a:latin typeface="Calibri" pitchFamily="34" charset="0"/>
                <a:ea typeface="Calibri" pitchFamily="34" charset="-122"/>
                <a:cs typeface="Calibri" pitchFamily="34" charset="-120"/>
              </a:rPr>
              <a:t>Three ML components enrich the base linguistic contract:</a:t>
            </a:r>
            <a:endParaRPr lang="en-US" sz="2200" dirty="0"/>
          </a:p>
          <a:p>
            <a:pPr marL="0" indent="0" algn="l">
              <a:buNone/>
            </a:pPr>
            <a:endParaRPr lang="en-US" sz="2200" dirty="0"/>
          </a:p>
          <a:p>
            <a:pPr marL="0" indent="0" algn="l">
              <a:buNone/>
            </a:pPr>
            <a:r>
              <a:rPr lang="en-US" sz="2200" dirty="0">
                <a:solidFill>
                  <a:srgbClr val="1F1F1F"/>
                </a:solidFill>
                <a:latin typeface="Calibri" pitchFamily="34" charset="0"/>
                <a:ea typeface="Calibri" pitchFamily="34" charset="-122"/>
                <a:cs typeface="Calibri" pitchFamily="34" charset="-120"/>
              </a:rPr>
              <a:t>(1) CEFR Classification — a Tabular ML ensemble (XGBoost + Random Forest + Logistic Regression) trained on a 3,000-sentence CEFR-balanced corpus predicts English proficiency level (A1–C2) per sentence and word.</a:t>
            </a:r>
            <a:endParaRPr lang="en-US" sz="2200" dirty="0"/>
          </a:p>
          <a:p>
            <a:pPr marL="0" indent="0" algn="l">
              <a:buNone/>
            </a:pPr>
            <a:endParaRPr lang="en-US" sz="2200" dirty="0"/>
          </a:p>
          <a:p>
            <a:pPr marL="0" indent="0" algn="l">
              <a:buNone/>
            </a:pPr>
            <a:r>
              <a:rPr lang="en-US" sz="2200" dirty="0">
                <a:solidFill>
                  <a:srgbClr val="1F1F1F"/>
                </a:solidFill>
                <a:latin typeface="Calibri" pitchFamily="34" charset="0"/>
                <a:ea typeface="Calibri" pitchFamily="34" charset="-122"/>
                <a:cs typeface="Calibri" pitchFamily="34" charset="-120"/>
              </a:rPr>
              <a:t>(2) Linguistic Note Generation — a fine-tuned T5 (Text-to-Text Transfer Transformer) model generates pedagogical notes for grammar structures, backed by deterministic rule-based template fallbacks.</a:t>
            </a:r>
            <a:endParaRPr lang="en-US" sz="2200" dirty="0"/>
          </a:p>
          <a:p>
            <a:pPr marL="0" indent="0" algn="l">
              <a:buNone/>
            </a:pPr>
            <a:endParaRPr lang="en-US" sz="2200" dirty="0"/>
          </a:p>
          <a:p>
            <a:pPr marL="0" indent="0" algn="l">
              <a:buNone/>
            </a:pPr>
            <a:r>
              <a:rPr lang="en-US" sz="2200" dirty="0">
                <a:solidFill>
                  <a:srgbClr val="1F1F1F"/>
                </a:solidFill>
                <a:latin typeface="Calibri" pitchFamily="34" charset="0"/>
                <a:ea typeface="Calibri" pitchFamily="34" charset="-122"/>
                <a:cs typeface="Calibri" pitchFamily="34" charset="-120"/>
              </a:rPr>
              <a:t>(3) Speech Recognition — OpenAI Whisper (base/medium) performs client-side Automatic Speech Recognition (ASR) for audio and video inputs, with FFmpeg handling media pre-processing.</a:t>
            </a:r>
            <a:endParaRPr lang="en-US" sz="2200" dirty="0"/>
          </a:p>
        </p:txBody>
      </p:sp>
      <p:sp>
        <p:nvSpPr>
          <p:cNvPr id="40" name="Shape 38"/>
          <p:cNvSpPr/>
          <p:nvPr/>
        </p:nvSpPr>
        <p:spPr>
          <a:xfrm>
            <a:off x="11196828" y="14721840"/>
            <a:ext cx="9505188" cy="5943600"/>
          </a:xfrm>
          <a:prstGeom prst="rect">
            <a:avLst/>
          </a:prstGeom>
          <a:solidFill>
            <a:srgbClr val="FDF4F4"/>
          </a:solidFill>
          <a:ln w="19050">
            <a:solidFill>
              <a:srgbClr val="C0504D"/>
            </a:solidFill>
            <a:prstDash val="solid"/>
          </a:ln>
        </p:spPr>
        <p:txBody>
          <a:bodyPr/>
          <a:lstStyle/>
          <a:p>
            <a:endParaRPr lang="en-IE"/>
          </a:p>
        </p:txBody>
      </p:sp>
      <p:sp>
        <p:nvSpPr>
          <p:cNvPr id="41" name="Text 39"/>
          <p:cNvSpPr/>
          <p:nvPr/>
        </p:nvSpPr>
        <p:spPr>
          <a:xfrm>
            <a:off x="11196828" y="14859000"/>
            <a:ext cx="9505188" cy="502920"/>
          </a:xfrm>
          <a:prstGeom prst="rect">
            <a:avLst/>
          </a:prstGeom>
          <a:noFill/>
          <a:ln/>
        </p:spPr>
        <p:txBody>
          <a:bodyPr wrap="square" lIns="0" tIns="0" rIns="0" bIns="0" rtlCol="0" anchor="ctr"/>
          <a:lstStyle/>
          <a:p>
            <a:pPr marL="0" indent="0" algn="ctr">
              <a:buNone/>
            </a:pPr>
            <a:r>
              <a:rPr lang="en-US" sz="2300" b="1" dirty="0">
                <a:solidFill>
                  <a:srgbClr val="C0504D"/>
                </a:solidFill>
                <a:latin typeface="Calibri" pitchFamily="34" charset="0"/>
                <a:ea typeface="Calibri" pitchFamily="34" charset="-122"/>
                <a:cs typeface="Calibri" pitchFamily="34" charset="-120"/>
              </a:rPr>
              <a:t>Performance Metrics</a:t>
            </a:r>
            <a:endParaRPr lang="en-US" sz="2300" dirty="0"/>
          </a:p>
        </p:txBody>
      </p:sp>
      <p:sp>
        <p:nvSpPr>
          <p:cNvPr id="42" name="Shape 40"/>
          <p:cNvSpPr/>
          <p:nvPr/>
        </p:nvSpPr>
        <p:spPr>
          <a:xfrm>
            <a:off x="11379708" y="15499080"/>
            <a:ext cx="9139428" cy="1508760"/>
          </a:xfrm>
          <a:prstGeom prst="rect">
            <a:avLst/>
          </a:prstGeom>
          <a:solidFill>
            <a:srgbClr val="FFFFFF"/>
          </a:solidFill>
          <a:ln w="12700">
            <a:solidFill>
              <a:srgbClr val="E8D0CF"/>
            </a:solidFill>
            <a:prstDash val="solid"/>
          </a:ln>
        </p:spPr>
        <p:txBody>
          <a:bodyPr/>
          <a:lstStyle/>
          <a:p>
            <a:endParaRPr lang="en-IE"/>
          </a:p>
        </p:txBody>
      </p:sp>
      <p:sp>
        <p:nvSpPr>
          <p:cNvPr id="43" name="Text 41"/>
          <p:cNvSpPr/>
          <p:nvPr/>
        </p:nvSpPr>
        <p:spPr>
          <a:xfrm>
            <a:off x="11379708" y="15544800"/>
            <a:ext cx="9139428" cy="777240"/>
          </a:xfrm>
          <a:prstGeom prst="rect">
            <a:avLst/>
          </a:prstGeom>
          <a:noFill/>
          <a:ln/>
        </p:spPr>
        <p:txBody>
          <a:bodyPr wrap="square" lIns="0" tIns="0" rIns="0" bIns="0" rtlCol="0" anchor="ctr"/>
          <a:lstStyle/>
          <a:p>
            <a:pPr marL="0" indent="0" algn="ctr">
              <a:buNone/>
            </a:pPr>
            <a:r>
              <a:rPr lang="en-US" sz="5200" b="1" dirty="0">
                <a:solidFill>
                  <a:srgbClr val="C0504D"/>
                </a:solidFill>
                <a:latin typeface="Calibri" pitchFamily="34" charset="0"/>
                <a:ea typeface="Calibri" pitchFamily="34" charset="-122"/>
                <a:cs typeface="Calibri" pitchFamily="34" charset="-120"/>
              </a:rPr>
              <a:t>78.3%</a:t>
            </a:r>
            <a:endParaRPr lang="en-US" sz="5200" dirty="0"/>
          </a:p>
        </p:txBody>
      </p:sp>
      <p:sp>
        <p:nvSpPr>
          <p:cNvPr id="44" name="Text 42"/>
          <p:cNvSpPr/>
          <p:nvPr/>
        </p:nvSpPr>
        <p:spPr>
          <a:xfrm>
            <a:off x="11379708" y="16340328"/>
            <a:ext cx="9139428" cy="320040"/>
          </a:xfrm>
          <a:prstGeom prst="rect">
            <a:avLst/>
          </a:prstGeom>
          <a:noFill/>
          <a:ln/>
        </p:spPr>
        <p:txBody>
          <a:bodyPr wrap="square" lIns="0" tIns="0" rIns="0" bIns="0" rtlCol="0" anchor="ctr"/>
          <a:lstStyle/>
          <a:p>
            <a:pPr marL="0" indent="0" algn="ctr">
              <a:buNone/>
            </a:pPr>
            <a:r>
              <a:rPr lang="en-US" sz="1800" b="1" dirty="0">
                <a:solidFill>
                  <a:srgbClr val="1F1F1F"/>
                </a:solidFill>
                <a:latin typeface="Calibri" pitchFamily="34" charset="0"/>
                <a:ea typeface="Calibri" pitchFamily="34" charset="-122"/>
                <a:cs typeface="Calibri" pitchFamily="34" charset="-120"/>
              </a:rPr>
              <a:t>CEFR Classification Accuracy</a:t>
            </a:r>
            <a:endParaRPr lang="en-US" sz="1800" dirty="0"/>
          </a:p>
        </p:txBody>
      </p:sp>
      <p:sp>
        <p:nvSpPr>
          <p:cNvPr id="45" name="Text 43"/>
          <p:cNvSpPr/>
          <p:nvPr/>
        </p:nvSpPr>
        <p:spPr>
          <a:xfrm>
            <a:off x="11379708" y="16669512"/>
            <a:ext cx="9139428" cy="256032"/>
          </a:xfrm>
          <a:prstGeom prst="rect">
            <a:avLst/>
          </a:prstGeom>
          <a:noFill/>
          <a:ln/>
        </p:spPr>
        <p:txBody>
          <a:bodyPr wrap="square" lIns="0" tIns="0" rIns="0" bIns="0" rtlCol="0" anchor="ctr"/>
          <a:lstStyle/>
          <a:p>
            <a:pPr marL="0" indent="0" algn="ctr">
              <a:buNone/>
            </a:pPr>
            <a:r>
              <a:rPr lang="en-US" sz="1500" dirty="0">
                <a:solidFill>
                  <a:srgbClr val="777777"/>
                </a:solidFill>
                <a:latin typeface="Calibri" pitchFamily="34" charset="0"/>
                <a:ea typeface="Calibri" pitchFamily="34" charset="-122"/>
                <a:cs typeface="Calibri" pitchFamily="34" charset="-120"/>
              </a:rPr>
              <a:t>XGBoost ensemble on 3,000-sentence corpus</a:t>
            </a:r>
            <a:endParaRPr lang="en-US" sz="1500" dirty="0"/>
          </a:p>
        </p:txBody>
      </p:sp>
      <p:sp>
        <p:nvSpPr>
          <p:cNvPr id="46" name="Shape 44"/>
          <p:cNvSpPr/>
          <p:nvPr/>
        </p:nvSpPr>
        <p:spPr>
          <a:xfrm>
            <a:off x="11379708" y="17209008"/>
            <a:ext cx="9139428" cy="1508760"/>
          </a:xfrm>
          <a:prstGeom prst="rect">
            <a:avLst/>
          </a:prstGeom>
          <a:solidFill>
            <a:srgbClr val="FFFFFF"/>
          </a:solidFill>
          <a:ln w="12700">
            <a:solidFill>
              <a:srgbClr val="E8D0CF"/>
            </a:solidFill>
            <a:prstDash val="solid"/>
          </a:ln>
        </p:spPr>
        <p:txBody>
          <a:bodyPr/>
          <a:lstStyle/>
          <a:p>
            <a:endParaRPr lang="en-IE"/>
          </a:p>
        </p:txBody>
      </p:sp>
      <p:sp>
        <p:nvSpPr>
          <p:cNvPr id="47" name="Text 45"/>
          <p:cNvSpPr/>
          <p:nvPr/>
        </p:nvSpPr>
        <p:spPr>
          <a:xfrm>
            <a:off x="11379708" y="17254728"/>
            <a:ext cx="9139428" cy="777240"/>
          </a:xfrm>
          <a:prstGeom prst="rect">
            <a:avLst/>
          </a:prstGeom>
          <a:noFill/>
          <a:ln/>
        </p:spPr>
        <p:txBody>
          <a:bodyPr wrap="square" lIns="0" tIns="0" rIns="0" bIns="0" rtlCol="0" anchor="ctr"/>
          <a:lstStyle/>
          <a:p>
            <a:pPr marL="0" indent="0" algn="ctr">
              <a:buNone/>
            </a:pPr>
            <a:r>
              <a:rPr lang="en-US" sz="5200" b="1" dirty="0">
                <a:solidFill>
                  <a:srgbClr val="C0504D"/>
                </a:solidFill>
                <a:latin typeface="Calibri" pitchFamily="34" charset="0"/>
                <a:ea typeface="Calibri" pitchFamily="34" charset="-122"/>
                <a:cs typeface="Calibri" pitchFamily="34" charset="-120"/>
              </a:rPr>
              <a:t>0.81</a:t>
            </a:r>
            <a:endParaRPr lang="en-US" sz="5200" dirty="0"/>
          </a:p>
        </p:txBody>
      </p:sp>
      <p:sp>
        <p:nvSpPr>
          <p:cNvPr id="48" name="Text 46"/>
          <p:cNvSpPr/>
          <p:nvPr/>
        </p:nvSpPr>
        <p:spPr>
          <a:xfrm>
            <a:off x="11379708" y="18050256"/>
            <a:ext cx="9139428" cy="320040"/>
          </a:xfrm>
          <a:prstGeom prst="rect">
            <a:avLst/>
          </a:prstGeom>
          <a:noFill/>
          <a:ln/>
        </p:spPr>
        <p:txBody>
          <a:bodyPr wrap="square" lIns="0" tIns="0" rIns="0" bIns="0" rtlCol="0" anchor="ctr"/>
          <a:lstStyle/>
          <a:p>
            <a:pPr marL="0" indent="0" algn="ctr">
              <a:buNone/>
            </a:pPr>
            <a:r>
              <a:rPr lang="en-US" sz="1800" b="1" dirty="0">
                <a:solidFill>
                  <a:srgbClr val="1F1F1F"/>
                </a:solidFill>
                <a:latin typeface="Calibri" pitchFamily="34" charset="0"/>
                <a:ea typeface="Calibri" pitchFamily="34" charset="-122"/>
                <a:cs typeface="Calibri" pitchFamily="34" charset="-120"/>
              </a:rPr>
              <a:t>Note Relevance (ROUGE-L)</a:t>
            </a:r>
            <a:endParaRPr lang="en-US" sz="1800" dirty="0"/>
          </a:p>
        </p:txBody>
      </p:sp>
      <p:sp>
        <p:nvSpPr>
          <p:cNvPr id="49" name="Text 47"/>
          <p:cNvSpPr/>
          <p:nvPr/>
        </p:nvSpPr>
        <p:spPr>
          <a:xfrm>
            <a:off x="11379708" y="18379440"/>
            <a:ext cx="9139428" cy="256032"/>
          </a:xfrm>
          <a:prstGeom prst="rect">
            <a:avLst/>
          </a:prstGeom>
          <a:noFill/>
          <a:ln/>
        </p:spPr>
        <p:txBody>
          <a:bodyPr wrap="square" lIns="0" tIns="0" rIns="0" bIns="0" rtlCol="0" anchor="ctr"/>
          <a:lstStyle/>
          <a:p>
            <a:pPr marL="0" indent="0" algn="ctr">
              <a:buNone/>
            </a:pPr>
            <a:r>
              <a:rPr lang="en-US" sz="1500" dirty="0">
                <a:solidFill>
                  <a:srgbClr val="777777"/>
                </a:solidFill>
                <a:latin typeface="Calibri" pitchFamily="34" charset="0"/>
                <a:ea typeface="Calibri" pitchFamily="34" charset="-122"/>
                <a:cs typeface="Calibri" pitchFamily="34" charset="-120"/>
              </a:rPr>
              <a:t>T5 fine-tuned model evaluation</a:t>
            </a:r>
            <a:endParaRPr lang="en-US" sz="1500" dirty="0"/>
          </a:p>
        </p:txBody>
      </p:sp>
      <p:sp>
        <p:nvSpPr>
          <p:cNvPr id="50" name="Shape 48"/>
          <p:cNvSpPr/>
          <p:nvPr/>
        </p:nvSpPr>
        <p:spPr>
          <a:xfrm>
            <a:off x="11379708" y="18918936"/>
            <a:ext cx="9139428" cy="1508760"/>
          </a:xfrm>
          <a:prstGeom prst="rect">
            <a:avLst/>
          </a:prstGeom>
          <a:solidFill>
            <a:srgbClr val="FFFFFF"/>
          </a:solidFill>
          <a:ln w="12700">
            <a:solidFill>
              <a:srgbClr val="E8D0CF"/>
            </a:solidFill>
            <a:prstDash val="solid"/>
          </a:ln>
        </p:spPr>
        <p:txBody>
          <a:bodyPr/>
          <a:lstStyle/>
          <a:p>
            <a:endParaRPr lang="en-IE"/>
          </a:p>
        </p:txBody>
      </p:sp>
      <p:sp>
        <p:nvSpPr>
          <p:cNvPr id="51" name="Text 49"/>
          <p:cNvSpPr/>
          <p:nvPr/>
        </p:nvSpPr>
        <p:spPr>
          <a:xfrm>
            <a:off x="11379708" y="18964656"/>
            <a:ext cx="9139428" cy="777240"/>
          </a:xfrm>
          <a:prstGeom prst="rect">
            <a:avLst/>
          </a:prstGeom>
          <a:noFill/>
          <a:ln/>
        </p:spPr>
        <p:txBody>
          <a:bodyPr wrap="square" lIns="0" tIns="0" rIns="0" bIns="0" rtlCol="0" anchor="ctr"/>
          <a:lstStyle/>
          <a:p>
            <a:pPr marL="0" indent="0" algn="ctr">
              <a:buNone/>
            </a:pPr>
            <a:r>
              <a:rPr lang="en-US" sz="5200" b="1" dirty="0">
                <a:solidFill>
                  <a:srgbClr val="C0504D"/>
                </a:solidFill>
                <a:latin typeface="Calibri" pitchFamily="34" charset="0"/>
                <a:ea typeface="Calibri" pitchFamily="34" charset="-122"/>
                <a:cs typeface="Calibri" pitchFamily="34" charset="-120"/>
              </a:rPr>
              <a:t>8.2%</a:t>
            </a:r>
            <a:endParaRPr lang="en-US" sz="5200" dirty="0"/>
          </a:p>
        </p:txBody>
      </p:sp>
      <p:sp>
        <p:nvSpPr>
          <p:cNvPr id="52" name="Text 50"/>
          <p:cNvSpPr/>
          <p:nvPr/>
        </p:nvSpPr>
        <p:spPr>
          <a:xfrm>
            <a:off x="11379708" y="19760184"/>
            <a:ext cx="9139428" cy="320040"/>
          </a:xfrm>
          <a:prstGeom prst="rect">
            <a:avLst/>
          </a:prstGeom>
          <a:noFill/>
          <a:ln/>
        </p:spPr>
        <p:txBody>
          <a:bodyPr wrap="square" lIns="0" tIns="0" rIns="0" bIns="0" rtlCol="0" anchor="ctr"/>
          <a:lstStyle/>
          <a:p>
            <a:pPr marL="0" indent="0" algn="ctr">
              <a:buNone/>
            </a:pPr>
            <a:r>
              <a:rPr lang="en-US" sz="1800" b="1" dirty="0">
                <a:solidFill>
                  <a:srgbClr val="1F1F1F"/>
                </a:solidFill>
                <a:latin typeface="Calibri" pitchFamily="34" charset="0"/>
                <a:ea typeface="Calibri" pitchFamily="34" charset="-122"/>
                <a:cs typeface="Calibri" pitchFamily="34" charset="-120"/>
              </a:rPr>
              <a:t>ASR Word Error Rate</a:t>
            </a:r>
            <a:endParaRPr lang="en-US" sz="1800" dirty="0"/>
          </a:p>
        </p:txBody>
      </p:sp>
      <p:sp>
        <p:nvSpPr>
          <p:cNvPr id="53" name="Text 51"/>
          <p:cNvSpPr/>
          <p:nvPr/>
        </p:nvSpPr>
        <p:spPr>
          <a:xfrm>
            <a:off x="11379708" y="20089368"/>
            <a:ext cx="9139428" cy="256032"/>
          </a:xfrm>
          <a:prstGeom prst="rect">
            <a:avLst/>
          </a:prstGeom>
          <a:noFill/>
          <a:ln/>
        </p:spPr>
        <p:txBody>
          <a:bodyPr wrap="square" lIns="0" tIns="0" rIns="0" bIns="0" rtlCol="0" anchor="ctr"/>
          <a:lstStyle/>
          <a:p>
            <a:pPr marL="0" indent="0" algn="ctr">
              <a:buNone/>
            </a:pPr>
            <a:r>
              <a:rPr lang="en-US" sz="1500" dirty="0">
                <a:solidFill>
                  <a:srgbClr val="777777"/>
                </a:solidFill>
                <a:latin typeface="Calibri" pitchFamily="34" charset="0"/>
                <a:ea typeface="Calibri" pitchFamily="34" charset="-122"/>
                <a:cs typeface="Calibri" pitchFamily="34" charset="-120"/>
              </a:rPr>
              <a:t>Whisper base, clean speech test set</a:t>
            </a:r>
            <a:endParaRPr lang="en-US" sz="1500" dirty="0"/>
          </a:p>
        </p:txBody>
      </p:sp>
      <p:sp>
        <p:nvSpPr>
          <p:cNvPr id="54" name="Shape 52"/>
          <p:cNvSpPr/>
          <p:nvPr/>
        </p:nvSpPr>
        <p:spPr>
          <a:xfrm>
            <a:off x="365760" y="21396960"/>
            <a:ext cx="20656296" cy="5120640"/>
          </a:xfrm>
          <a:prstGeom prst="rect">
            <a:avLst/>
          </a:prstGeom>
          <a:solidFill>
            <a:srgbClr val="E2EFDA"/>
          </a:solidFill>
          <a:ln w="19050">
            <a:solidFill>
              <a:srgbClr val="70AD47"/>
            </a:solidFill>
            <a:prstDash val="solid"/>
          </a:ln>
        </p:spPr>
        <p:txBody>
          <a:bodyPr/>
          <a:lstStyle/>
          <a:p>
            <a:endParaRPr lang="en-IE"/>
          </a:p>
        </p:txBody>
      </p:sp>
      <p:sp>
        <p:nvSpPr>
          <p:cNvPr id="55" name="Shape 53"/>
          <p:cNvSpPr/>
          <p:nvPr/>
        </p:nvSpPr>
        <p:spPr>
          <a:xfrm>
            <a:off x="365760" y="21396960"/>
            <a:ext cx="164592" cy="5120640"/>
          </a:xfrm>
          <a:prstGeom prst="rect">
            <a:avLst/>
          </a:prstGeom>
          <a:solidFill>
            <a:srgbClr val="375623"/>
          </a:solidFill>
          <a:ln w="12700">
            <a:solidFill>
              <a:srgbClr val="375623"/>
            </a:solidFill>
            <a:prstDash val="solid"/>
          </a:ln>
        </p:spPr>
        <p:txBody>
          <a:bodyPr/>
          <a:lstStyle/>
          <a:p>
            <a:endParaRPr lang="en-IE"/>
          </a:p>
        </p:txBody>
      </p:sp>
      <p:sp>
        <p:nvSpPr>
          <p:cNvPr id="56" name="Text 54"/>
          <p:cNvSpPr/>
          <p:nvPr/>
        </p:nvSpPr>
        <p:spPr>
          <a:xfrm>
            <a:off x="685800" y="21579840"/>
            <a:ext cx="20153376" cy="640080"/>
          </a:xfrm>
          <a:prstGeom prst="rect">
            <a:avLst/>
          </a:prstGeom>
          <a:noFill/>
          <a:ln/>
        </p:spPr>
        <p:txBody>
          <a:bodyPr wrap="square" lIns="0" tIns="0" rIns="0" bIns="0" rtlCol="0" anchor="ctr"/>
          <a:lstStyle/>
          <a:p>
            <a:pPr marL="0" indent="0" algn="l">
              <a:buNone/>
            </a:pPr>
            <a:r>
              <a:rPr lang="en-US" sz="3400" b="1" dirty="0">
                <a:solidFill>
                  <a:srgbClr val="375623"/>
                </a:solidFill>
                <a:latin typeface="Calibri" pitchFamily="34" charset="0"/>
                <a:ea typeface="Calibri" pitchFamily="34" charset="-122"/>
                <a:cs typeface="Calibri" pitchFamily="34" charset="-120"/>
              </a:rPr>
              <a:t>Conclusions</a:t>
            </a:r>
            <a:endParaRPr lang="en-US" sz="3400" dirty="0"/>
          </a:p>
        </p:txBody>
      </p:sp>
      <p:sp>
        <p:nvSpPr>
          <p:cNvPr id="57" name="Text 55"/>
          <p:cNvSpPr/>
          <p:nvPr/>
        </p:nvSpPr>
        <p:spPr>
          <a:xfrm>
            <a:off x="685800" y="22357080"/>
            <a:ext cx="20153376" cy="3931920"/>
          </a:xfrm>
          <a:prstGeom prst="rect">
            <a:avLst/>
          </a:prstGeom>
          <a:noFill/>
          <a:ln/>
        </p:spPr>
        <p:txBody>
          <a:bodyPr wrap="square" lIns="0" tIns="0" rIns="0" bIns="0" rtlCol="0" anchor="t"/>
          <a:lstStyle/>
          <a:p>
            <a:pPr marL="0" indent="0" algn="just">
              <a:buNone/>
            </a:pPr>
            <a:r>
              <a:rPr lang="en-US" sz="2300" dirty="0">
                <a:solidFill>
                  <a:srgbClr val="1F1F1F"/>
                </a:solidFill>
                <a:latin typeface="Calibri" pitchFamily="34" charset="0"/>
                <a:ea typeface="Calibri" pitchFamily="34" charset="-122"/>
                <a:cs typeface="Calibri" pitchFamily="34" charset="-120"/>
              </a:rPr>
              <a:t>This project demonstrates that explainable, AI-assisted annotation can make authentic English input pedagogically accessible without simplification. ELA successfully produces Recursive Linguistic Elements (RLE) from multimodal inputs (text, PDF, audio, video) with CEFR classification accuracy of 78.3%, validating a hybrid rule-based NLP and lightweight ML approach for bilingual language learning. The system confirms that cognitive scaffolding via structured RLE and bilingual visualisation meaningfully reduces the barrier to authentic content comprehension.</a:t>
            </a:r>
            <a:endParaRPr lang="en-US" sz="2300" dirty="0"/>
          </a:p>
          <a:p>
            <a:pPr marL="0" indent="0" algn="just">
              <a:buNone/>
            </a:pPr>
            <a:endParaRPr lang="en-US" sz="2300" dirty="0"/>
          </a:p>
          <a:p>
            <a:pPr marL="0" indent="0" algn="just">
              <a:buNone/>
            </a:pPr>
            <a:r>
              <a:rPr lang="en-US" sz="2300" dirty="0">
                <a:solidFill>
                  <a:srgbClr val="1F1F1F"/>
                </a:solidFill>
                <a:latin typeface="Calibri" pitchFamily="34" charset="0"/>
                <a:ea typeface="Calibri" pitchFamily="34" charset="-122"/>
                <a:cs typeface="Calibri" pitchFamily="34" charset="-120"/>
              </a:rPr>
              <a:t>Future directions include: expanding to additional target languages beyond English→Russian translation, integrating larger transformer models (BERT, RoBERTa) for improved CEFR prediction, adding real-time streaming analysis for live audio, and developing a teacher-facing analytics dashboard for classroom deployment.</a:t>
            </a:r>
            <a:endParaRPr lang="en-US" sz="2300" dirty="0"/>
          </a:p>
        </p:txBody>
      </p:sp>
      <p:sp>
        <p:nvSpPr>
          <p:cNvPr id="58" name="Shape 56"/>
          <p:cNvSpPr/>
          <p:nvPr/>
        </p:nvSpPr>
        <p:spPr>
          <a:xfrm>
            <a:off x="10350801" y="26667489"/>
            <a:ext cx="0" cy="3566160"/>
          </a:xfrm>
          <a:prstGeom prst="line">
            <a:avLst/>
          </a:prstGeom>
          <a:noFill/>
          <a:ln w="12700">
            <a:solidFill>
              <a:srgbClr val="CCCCCC"/>
            </a:solidFill>
            <a:prstDash val="solid"/>
          </a:ln>
        </p:spPr>
        <p:txBody>
          <a:bodyPr/>
          <a:lstStyle/>
          <a:p>
            <a:endParaRPr lang="en-IE"/>
          </a:p>
        </p:txBody>
      </p:sp>
      <p:sp>
        <p:nvSpPr>
          <p:cNvPr id="59" name="Text 57"/>
          <p:cNvSpPr/>
          <p:nvPr/>
        </p:nvSpPr>
        <p:spPr>
          <a:xfrm>
            <a:off x="365760" y="26837640"/>
            <a:ext cx="9962388" cy="502920"/>
          </a:xfrm>
          <a:prstGeom prst="rect">
            <a:avLst/>
          </a:prstGeom>
          <a:noFill/>
          <a:ln/>
        </p:spPr>
        <p:txBody>
          <a:bodyPr wrap="square" lIns="0" tIns="0" rIns="0" bIns="0" rtlCol="0" anchor="ctr"/>
          <a:lstStyle/>
          <a:p>
            <a:pPr marL="0" indent="0" algn="l">
              <a:buNone/>
            </a:pPr>
            <a:r>
              <a:rPr lang="en-US" sz="2600" b="1" dirty="0">
                <a:solidFill>
                  <a:srgbClr val="C0504D"/>
                </a:solidFill>
                <a:latin typeface="Calibri" pitchFamily="34" charset="0"/>
                <a:ea typeface="Calibri" pitchFamily="34" charset="-122"/>
                <a:cs typeface="Calibri" pitchFamily="34" charset="-120"/>
              </a:rPr>
              <a:t>References</a:t>
            </a:r>
            <a:endParaRPr lang="en-US" sz="2600" dirty="0"/>
          </a:p>
        </p:txBody>
      </p:sp>
      <p:sp>
        <p:nvSpPr>
          <p:cNvPr id="60" name="Text 58"/>
          <p:cNvSpPr/>
          <p:nvPr/>
        </p:nvSpPr>
        <p:spPr>
          <a:xfrm>
            <a:off x="365760" y="27432000"/>
            <a:ext cx="9870948" cy="2926080"/>
          </a:xfrm>
          <a:prstGeom prst="rect">
            <a:avLst/>
          </a:prstGeom>
          <a:noFill/>
          <a:ln/>
        </p:spPr>
        <p:txBody>
          <a:bodyPr wrap="square" lIns="0" tIns="0" rIns="0" bIns="0" rtlCol="0" anchor="t"/>
          <a:lstStyle/>
          <a:p>
            <a:pPr marL="0" indent="0" algn="l">
              <a:buNone/>
            </a:pPr>
            <a:r>
              <a:rPr lang="en-US" sz="1700" b="1" dirty="0">
                <a:solidFill>
                  <a:srgbClr val="1F1F1F"/>
                </a:solidFill>
                <a:latin typeface="Calibri" pitchFamily="34" charset="0"/>
                <a:ea typeface="Calibri" pitchFamily="34" charset="-122"/>
                <a:cs typeface="Calibri" pitchFamily="34" charset="-120"/>
              </a:rPr>
              <a:t>1. </a:t>
            </a:r>
            <a:r>
              <a:rPr lang="en-US" sz="1700" dirty="0">
                <a:solidFill>
                  <a:srgbClr val="1F1F1F"/>
                </a:solidFill>
                <a:latin typeface="Calibri" pitchFamily="34" charset="0"/>
                <a:ea typeface="Calibri" pitchFamily="34" charset="-122"/>
                <a:cs typeface="Calibri" pitchFamily="34" charset="-120"/>
              </a:rPr>
              <a:t>Honnibal, M. &amp; Montani, I. (2017). spaCy: Industrial-strength NLP.
</a:t>
            </a:r>
            <a:r>
              <a:rPr lang="en-US" sz="1700" b="1" dirty="0">
                <a:solidFill>
                  <a:srgbClr val="1F1F1F"/>
                </a:solidFill>
                <a:latin typeface="Calibri" pitchFamily="34" charset="0"/>
                <a:ea typeface="Calibri" pitchFamily="34" charset="-122"/>
                <a:cs typeface="Calibri" pitchFamily="34" charset="-120"/>
              </a:rPr>
              <a:t>2. </a:t>
            </a:r>
            <a:r>
              <a:rPr lang="en-US" sz="1700" dirty="0">
                <a:solidFill>
                  <a:srgbClr val="1F1F1F"/>
                </a:solidFill>
                <a:latin typeface="Calibri" pitchFamily="34" charset="0"/>
                <a:ea typeface="Calibri" pitchFamily="34" charset="-122"/>
                <a:cs typeface="Calibri" pitchFamily="34" charset="-120"/>
              </a:rPr>
              <a:t>Raffel, C. et al. (2020). Exploring the Limits of Transfer Learning with T5. JMLR.
</a:t>
            </a:r>
            <a:r>
              <a:rPr lang="en-US" sz="1700" b="1" dirty="0">
                <a:solidFill>
                  <a:srgbClr val="1F1F1F"/>
                </a:solidFill>
                <a:latin typeface="Calibri" pitchFamily="34" charset="0"/>
                <a:ea typeface="Calibri" pitchFamily="34" charset="-122"/>
                <a:cs typeface="Calibri" pitchFamily="34" charset="-120"/>
              </a:rPr>
              <a:t>3. </a:t>
            </a:r>
            <a:r>
              <a:rPr lang="en-US" sz="1700" dirty="0">
                <a:solidFill>
                  <a:srgbClr val="1F1F1F"/>
                </a:solidFill>
                <a:latin typeface="Calibri" pitchFamily="34" charset="0"/>
                <a:ea typeface="Calibri" pitchFamily="34" charset="-122"/>
                <a:cs typeface="Calibri" pitchFamily="34" charset="-120"/>
              </a:rPr>
              <a:t>Fan, A. et al. (2021). Beyond English-Centric Multilingual Machine Translation (M2M100). JMLR.
</a:t>
            </a:r>
            <a:r>
              <a:rPr lang="en-US" sz="1700" b="1" dirty="0">
                <a:solidFill>
                  <a:srgbClr val="1F1F1F"/>
                </a:solidFill>
                <a:latin typeface="Calibri" pitchFamily="34" charset="0"/>
                <a:ea typeface="Calibri" pitchFamily="34" charset="-122"/>
                <a:cs typeface="Calibri" pitchFamily="34" charset="-120"/>
              </a:rPr>
              <a:t>4. </a:t>
            </a:r>
            <a:r>
              <a:rPr lang="en-US" sz="1700" dirty="0">
                <a:solidFill>
                  <a:srgbClr val="1F1F1F"/>
                </a:solidFill>
                <a:latin typeface="Calibri" pitchFamily="34" charset="0"/>
                <a:ea typeface="Calibri" pitchFamily="34" charset="-122"/>
                <a:cs typeface="Calibri" pitchFamily="34" charset="-120"/>
              </a:rPr>
              <a:t>Radford, A. et al. (2023). Robust Speech Recognition via Large-Scale Weak Supervision (Whisper). ICML.
</a:t>
            </a:r>
            <a:r>
              <a:rPr lang="en-US" sz="1700" b="1" dirty="0">
                <a:solidFill>
                  <a:srgbClr val="1F1F1F"/>
                </a:solidFill>
                <a:latin typeface="Calibri" pitchFamily="34" charset="0"/>
                <a:ea typeface="Calibri" pitchFamily="34" charset="-122"/>
                <a:cs typeface="Calibri" pitchFamily="34" charset="-120"/>
              </a:rPr>
              <a:t>5. </a:t>
            </a:r>
            <a:r>
              <a:rPr lang="en-US" sz="1700" dirty="0">
                <a:solidFill>
                  <a:srgbClr val="1F1F1F"/>
                </a:solidFill>
                <a:latin typeface="Calibri" pitchFamily="34" charset="0"/>
                <a:ea typeface="Calibri" pitchFamily="34" charset="-122"/>
                <a:cs typeface="Calibri" pitchFamily="34" charset="-120"/>
              </a:rPr>
              <a:t>Chen, T. &amp; Guestrin, C. (2016). XGBoost: A Scalable Tree Boosting System. ACM KDD.</a:t>
            </a:r>
            <a:endParaRPr lang="en-US" sz="1700" dirty="0"/>
          </a:p>
        </p:txBody>
      </p:sp>
      <p:sp>
        <p:nvSpPr>
          <p:cNvPr id="61" name="Text 59"/>
          <p:cNvSpPr/>
          <p:nvPr/>
        </p:nvSpPr>
        <p:spPr>
          <a:xfrm>
            <a:off x="10876788" y="26837640"/>
            <a:ext cx="10145268" cy="502920"/>
          </a:xfrm>
          <a:prstGeom prst="rect">
            <a:avLst/>
          </a:prstGeom>
          <a:noFill/>
          <a:ln/>
        </p:spPr>
        <p:txBody>
          <a:bodyPr wrap="square" lIns="0" tIns="0" rIns="0" bIns="0" rtlCol="0" anchor="ctr"/>
          <a:lstStyle/>
          <a:p>
            <a:pPr marL="0" indent="0" algn="l">
              <a:buNone/>
            </a:pPr>
            <a:r>
              <a:rPr lang="en-US" sz="2600" b="1" dirty="0">
                <a:solidFill>
                  <a:srgbClr val="C0504D"/>
                </a:solidFill>
                <a:latin typeface="Calibri" pitchFamily="34" charset="0"/>
                <a:ea typeface="Calibri" pitchFamily="34" charset="-122"/>
                <a:cs typeface="Calibri" pitchFamily="34" charset="-120"/>
              </a:rPr>
              <a:t>Acknowledgments</a:t>
            </a:r>
            <a:endParaRPr lang="en-US" sz="2600" dirty="0"/>
          </a:p>
        </p:txBody>
      </p:sp>
      <p:sp>
        <p:nvSpPr>
          <p:cNvPr id="62" name="Text 60"/>
          <p:cNvSpPr/>
          <p:nvPr/>
        </p:nvSpPr>
        <p:spPr>
          <a:xfrm>
            <a:off x="10876788" y="27432000"/>
            <a:ext cx="10053828" cy="2926080"/>
          </a:xfrm>
          <a:prstGeom prst="rect">
            <a:avLst/>
          </a:prstGeom>
          <a:noFill/>
          <a:ln/>
        </p:spPr>
        <p:txBody>
          <a:bodyPr wrap="square" lIns="0" tIns="0" rIns="0" bIns="0" rtlCol="0" anchor="t"/>
          <a:lstStyle/>
          <a:p>
            <a:pPr marL="0" indent="0" algn="l">
              <a:buNone/>
            </a:pPr>
            <a:r>
              <a:rPr lang="en-US" sz="1700" dirty="0">
                <a:solidFill>
                  <a:srgbClr val="1F1F1F"/>
                </a:solidFill>
                <a:latin typeface="Calibri" pitchFamily="34" charset="0"/>
                <a:ea typeface="Calibri" pitchFamily="34" charset="-122"/>
                <a:cs typeface="Calibri" pitchFamily="34" charset="-120"/>
              </a:rPr>
              <a:t>The author would like to sincerely thank Prof. Nasir Ahmad (Implementation Supervisor) and Dr. Alex Vakaloudis (Research Supervisor) for their invaluable supervision, guidance, and support throughout this project. Thanks also to the Department of Computer Science at MTU Cork for providing the resources and academic environment that made this work possible.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768</Words>
  <Application>Microsoft Office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 English Language Analysis Pipeline</dc:title>
  <dc:subject>PptxGenJS Presentation</dc:subject>
  <dc:creator>Vladyslav Rastvorov</dc:creator>
  <cp:lastModifiedBy>Vladyslav Rastvorov</cp:lastModifiedBy>
  <cp:revision>2</cp:revision>
  <dcterms:created xsi:type="dcterms:W3CDTF">2026-03-17T11:34:10Z</dcterms:created>
  <dcterms:modified xsi:type="dcterms:W3CDTF">2026-03-17T20:24:17Z</dcterms:modified>
</cp:coreProperties>
</file>