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7236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9418320" y="0"/>
            <a:ext cx="2743200" cy="685800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0" y="6217920"/>
            <a:ext cx="941832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406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ELA: English Language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Pipeline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Hierarchical Linguistic Contract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Vladyslav Rastvorov  |  BSc Honours in Computer Science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Supervisor: Prof. Nasir Ahmad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Supervisor: Dr. Alex Vakaloudis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62636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MTU Cork  |  Department of Computer Science  |  May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1161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6537960"/>
            <a:ext cx="11996928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ELA: English Language Analysis Pipeline  |  Vladyslav Rastvorov  |  MTU Cork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303520" cy="1051560"/>
          </a:xfrm>
          <a:prstGeom prst="rect">
            <a:avLst/>
          </a:prstGeom>
          <a:solidFill>
            <a:srgbClr val="D0EEF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64008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457200" y="100584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88720" y="100584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5303520" cy="1051560"/>
          </a:xfrm>
          <a:prstGeom prst="rect">
            <a:avLst/>
          </a:prstGeom>
          <a:solidFill>
            <a:srgbClr val="D0EEF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64008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88720" y="22860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 &amp; Objectives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303520" cy="1051560"/>
          </a:xfrm>
          <a:prstGeom prst="rect">
            <a:avLst/>
          </a:prstGeom>
          <a:solidFill>
            <a:srgbClr val="D0EEF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64008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88720" y="356616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5303520" cy="1051560"/>
          </a:xfrm>
          <a:prstGeom prst="rect">
            <a:avLst/>
          </a:prstGeom>
          <a:solidFill>
            <a:srgbClr val="D0EEF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64008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188720" y="48463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Core Pipeline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26480" y="1005840"/>
            <a:ext cx="5303520" cy="1051560"/>
          </a:xfrm>
          <a:prstGeom prst="rect">
            <a:avLst/>
          </a:prstGeom>
          <a:solidFill>
            <a:srgbClr val="D0EEF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Shape 22"/>
          <p:cNvSpPr/>
          <p:nvPr/>
        </p:nvSpPr>
        <p:spPr>
          <a:xfrm>
            <a:off x="6126480" y="1005840"/>
            <a:ext cx="64008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/>
          <p:nvPr/>
        </p:nvSpPr>
        <p:spPr>
          <a:xfrm>
            <a:off x="6126480" y="100584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858000" y="100584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Components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126480" y="2286000"/>
            <a:ext cx="5303520" cy="1051560"/>
          </a:xfrm>
          <a:prstGeom prst="rect">
            <a:avLst/>
          </a:prstGeom>
          <a:solidFill>
            <a:srgbClr val="D0EEF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6126480" y="2286000"/>
            <a:ext cx="64008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/>
          <p:nvPr/>
        </p:nvSpPr>
        <p:spPr>
          <a:xfrm>
            <a:off x="6126480" y="228600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858000" y="22860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Processing &amp; Frontend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126480" y="3566160"/>
            <a:ext cx="5303520" cy="1051560"/>
          </a:xfrm>
          <a:prstGeom prst="rect">
            <a:avLst/>
          </a:prstGeom>
          <a:solidFill>
            <a:srgbClr val="D0EEF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2" name="Shape 30"/>
          <p:cNvSpPr/>
          <p:nvPr/>
        </p:nvSpPr>
        <p:spPr>
          <a:xfrm>
            <a:off x="6126480" y="3566160"/>
            <a:ext cx="64008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Text 31"/>
          <p:cNvSpPr/>
          <p:nvPr/>
        </p:nvSpPr>
        <p:spPr>
          <a:xfrm>
            <a:off x="6126480" y="356616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858000" y="356616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126480" y="4846320"/>
            <a:ext cx="5303520" cy="1051560"/>
          </a:xfrm>
          <a:prstGeom prst="rect">
            <a:avLst/>
          </a:prstGeom>
          <a:solidFill>
            <a:srgbClr val="D0EEF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6" name="Shape 34"/>
          <p:cNvSpPr/>
          <p:nvPr/>
        </p:nvSpPr>
        <p:spPr>
          <a:xfrm>
            <a:off x="6126480" y="4846320"/>
            <a:ext cx="64008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Text 35"/>
          <p:cNvSpPr/>
          <p:nvPr/>
        </p:nvSpPr>
        <p:spPr>
          <a:xfrm>
            <a:off x="6126480" y="484632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858000" y="48463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1161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6537960"/>
            <a:ext cx="11996928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ELA: English Language Analysis Pipeline  |  Vladyslav Rastvorov  |  MTU Cork 2025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914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7472" y="141732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platforms rely on simplified texts, limiting authentic input and real linguistic complexity for learners.
</a:t>
            </a:r>
            <a:r>
              <a:rPr lang="en-US" sz="17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tool bridges deterministic NLP and LLM-based annotation for bilingual, scaffolded comprehension.
</a:t>
            </a:r>
            <a:r>
              <a:rPr lang="en-US" sz="17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proficiency labels, linguistic notes, and phonetics require manual expert effort or costly API calls.
</a:t>
            </a:r>
            <a:r>
              <a:rPr lang="en-US" sz="17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 prevent sending sensitive audio/text to cloud services (GDPR, data ownership).
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75120" y="822960"/>
            <a:ext cx="5212080" cy="5029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6766560" y="914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ELA Solution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12280" y="1508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Offline-first</a:t>
            </a:r>
            <a:r>
              <a:rPr lang="ru-RU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client), privacy-preserving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20299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Multi-modal input: text, PDF, audio, video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255117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Recursive Linguistic Elements (RLE):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Sentence → Phrase → Word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12280" y="307238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CEFR proficiency classification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12280" y="35935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AI-generated pedagogical linguistic notes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12280" y="41148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Phonetics, synonyms, EN→RU translation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463600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PWA + Desktop client (no cloud required)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1161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 &amp;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6537960"/>
            <a:ext cx="11996928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ELA: English Language Analysis Pipeline  |  Vladyslav Rastvorov  |  MTU Cork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914400"/>
            <a:ext cx="3657600" cy="2377440"/>
          </a:xfrm>
          <a:prstGeom prst="rect">
            <a:avLst/>
          </a:prstGeom>
          <a:solidFill>
            <a:srgbClr val="F0F8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347472" y="914400"/>
            <a:ext cx="640080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347472" y="914400"/>
            <a:ext cx="640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1097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NLP Core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15544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spaCy-based pipeline producing validated hierarchical linguistic contracts at Sentence → Phrase → Word level with TAM grammar extraction.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42816" y="914400"/>
            <a:ext cx="3657600" cy="2377440"/>
          </a:xfrm>
          <a:prstGeom prst="rect">
            <a:avLst/>
          </a:prstGeom>
          <a:solidFill>
            <a:srgbClr val="F0F8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4242816" y="914400"/>
            <a:ext cx="640080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4242816" y="914400"/>
            <a:ext cx="640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74336" y="1097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Enrichment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74336" y="15544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Tabular ML ensemble for CEFR classification and fine-tune T5 for context-aware linguistic note generation.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914400"/>
            <a:ext cx="3657600" cy="2377440"/>
          </a:xfrm>
          <a:prstGeom prst="rect">
            <a:avLst/>
          </a:prstGeom>
          <a:solidFill>
            <a:srgbClr val="F0F8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8138160" y="914400"/>
            <a:ext cx="640080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/>
          <p:nvPr/>
        </p:nvSpPr>
        <p:spPr>
          <a:xfrm>
            <a:off x="8138160" y="914400"/>
            <a:ext cx="640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869680" y="1097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Input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69680" y="15544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text, PDF, audio, and video inputs using Whisper ASR and FFmpeg client-side processing without cloud dependency.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" y="3566160"/>
            <a:ext cx="3657600" cy="2377440"/>
          </a:xfrm>
          <a:prstGeom prst="rect">
            <a:avLst/>
          </a:prstGeom>
          <a:solidFill>
            <a:srgbClr val="F0F8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347472" y="3566160"/>
            <a:ext cx="640080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/>
          <p:nvPr/>
        </p:nvSpPr>
        <p:spPr>
          <a:xfrm>
            <a:off x="347472" y="3566160"/>
            <a:ext cx="640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78992" y="3749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Application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78992" y="42062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production-ready PWA and desktop client with local SQLite storage, full offline capability, and optional backend sync.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42816" y="3566160"/>
            <a:ext cx="3657600" cy="2377440"/>
          </a:xfrm>
          <a:prstGeom prst="rect">
            <a:avLst/>
          </a:prstGeom>
          <a:solidFill>
            <a:srgbClr val="F0F8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4242816" y="3566160"/>
            <a:ext cx="640080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/>
          <p:nvPr/>
        </p:nvSpPr>
        <p:spPr>
          <a:xfrm>
            <a:off x="4242816" y="3566160"/>
            <a:ext cx="640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974336" y="3749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Validation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74336" y="42062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GDPR-compliant, privacy-preserving design with strict JSON Schema contract validation.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138160" y="3566160"/>
            <a:ext cx="3657600" cy="2377440"/>
          </a:xfrm>
          <a:prstGeom prst="rect">
            <a:avLst/>
          </a:prstGeom>
          <a:solidFill>
            <a:srgbClr val="F0F8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Shape 31"/>
          <p:cNvSpPr/>
          <p:nvPr/>
        </p:nvSpPr>
        <p:spPr>
          <a:xfrm>
            <a:off x="8138160" y="3566160"/>
            <a:ext cx="640080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Text 32"/>
          <p:cNvSpPr/>
          <p:nvPr/>
        </p:nvSpPr>
        <p:spPr>
          <a:xfrm>
            <a:off x="8138160" y="3566160"/>
            <a:ext cx="640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869680" y="3749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Enrichments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869680" y="42062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M2M100 translation (EN→RU), espeak-ng phonetics, and WordNet synonyms as modular, pluggable pipeline stages.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1161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6537960"/>
            <a:ext cx="11996928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ELA: English Language Analysis Pipeline  |  Vladyslav Rastvorov  |  MTU Cork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960120"/>
            <a:ext cx="1147572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530352" y="1051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30352" y="155448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PWA (Android installable)  |  Desktop App (Tauri 2, Linux .deb)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13732" y="2350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REST API / Local IPC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147572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530352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30352" y="31089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 |  Whisper ASR  |  SQLite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13732" y="3904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REST API / Local IPC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4069080"/>
            <a:ext cx="1147572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/>
          <p:nvPr/>
        </p:nvSpPr>
        <p:spPr>
          <a:xfrm>
            <a:off x="530352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30352" y="46634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Pipeline  |  T5  |  XGBoost  |  M2M100  |  PostgreSQL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7472" y="5486400"/>
            <a:ext cx="26517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/>
          <p:nvPr/>
        </p:nvSpPr>
        <p:spPr>
          <a:xfrm>
            <a:off x="347472" y="557784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393192" y="6144768"/>
            <a:ext cx="25603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73552" y="5486400"/>
            <a:ext cx="26517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/>
          <p:nvPr/>
        </p:nvSpPr>
        <p:spPr>
          <a:xfrm>
            <a:off x="3273552" y="557784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3319272" y="6144768"/>
            <a:ext cx="25603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9632" y="5486400"/>
            <a:ext cx="26517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/>
          <p:nvPr/>
        </p:nvSpPr>
        <p:spPr>
          <a:xfrm>
            <a:off x="6199632" y="557784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6245352" y="6144768"/>
            <a:ext cx="25603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25712" y="5486400"/>
            <a:ext cx="26517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/>
          <p:nvPr/>
        </p:nvSpPr>
        <p:spPr>
          <a:xfrm>
            <a:off x="9125712" y="557784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Mode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171432" y="6144768"/>
            <a:ext cx="25603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1161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Core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6537960"/>
            <a:ext cx="11996928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ELA: English Language Analysis Pipeline  |  Vladyslav Rastvorov  |  MTU Cork 2025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914400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spaCy → TAM Engine → Phrase Builder → Validator → JSON Contract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" y="1463040"/>
            <a:ext cx="11475720" cy="1143000"/>
          </a:xfrm>
          <a:prstGeom prst="rect">
            <a:avLst/>
          </a:prstGeom>
          <a:solidFill>
            <a:srgbClr val="F0F8F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347472" y="1463040"/>
            <a:ext cx="100584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347472" y="146304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6304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Parser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1984248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segmentation, tokenisation, POS tags, dependency arcs, morphological features using the en_core_web_sm model.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7472" y="2743200"/>
            <a:ext cx="11475720" cy="1143000"/>
          </a:xfrm>
          <a:prstGeom prst="rect">
            <a:avLst/>
          </a:prstGeom>
          <a:solidFill>
            <a:srgbClr val="F0F8FC"/>
          </a:solidFill>
          <a:ln w="12700">
            <a:solidFill>
              <a:srgbClr val="7B2C2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347472" y="2743200"/>
            <a:ext cx="1005840" cy="1143000"/>
          </a:xfrm>
          <a:prstGeom prst="rect">
            <a:avLst/>
          </a:prstGeom>
          <a:solidFill>
            <a:srgbClr val="7B2C2C"/>
          </a:solidFill>
          <a:ln w="12700">
            <a:solidFill>
              <a:srgbClr val="7B2C2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347472" y="274320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46304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Rules Engine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264408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Tense (past/present/future), Aspect (simple/progressive/perfect), Mood (indicative/subjunctive), Voice (active/passive), Finiteness.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7472" y="4023360"/>
            <a:ext cx="11475720" cy="1143000"/>
          </a:xfrm>
          <a:prstGeom prst="rect">
            <a:avLst/>
          </a:prstGeom>
          <a:solidFill>
            <a:srgbClr val="F0F8FC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347472" y="4023360"/>
            <a:ext cx="1005840" cy="1143000"/>
          </a:xfrm>
          <a:prstGeom prst="rect">
            <a:avLst/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347472" y="402336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46304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Builder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4544568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matcher groups tokens into NP, VP, PP, ADJP phrases. Produces three-level tree: Sentence → Phrase → Word node IDs.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47472" y="5303520"/>
            <a:ext cx="11475720" cy="1143000"/>
          </a:xfrm>
          <a:prstGeom prst="rect">
            <a:avLst/>
          </a:prstGeom>
          <a:solidFill>
            <a:srgbClr val="F0F8FC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Shape 22"/>
          <p:cNvSpPr/>
          <p:nvPr/>
        </p:nvSpPr>
        <p:spPr>
          <a:xfrm>
            <a:off x="347472" y="5303520"/>
            <a:ext cx="1005840" cy="1143000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/>
          <p:nvPr/>
        </p:nvSpPr>
        <p:spPr>
          <a:xfrm>
            <a:off x="347472" y="530352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463040" y="5394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Validator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5824728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contract validation. Each field has a declared owner (spaCy/rule/ML). Rejected candidates logged.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1161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Linguistic Contract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6537960"/>
            <a:ext cx="11996928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ELA: English Language Analysis Pipeline  |  Vladyslav Rastvorov  |  MTU Cork 2025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Hierarchy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530352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502920" y="15270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Node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2660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880360"/>
            <a:ext cx="484632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960120" y="29900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Node (NP)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41239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80160" y="4343400"/>
            <a:ext cx="438912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1417320" y="44531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Node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Field Ownership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17920" y="1371600"/>
            <a:ext cx="56692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1" name="Text 19"/>
          <p:cNvSpPr/>
          <p:nvPr/>
        </p:nvSpPr>
        <p:spPr>
          <a:xfrm>
            <a:off x="6309360" y="1371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0" y="1371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1874520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Shape 22"/>
          <p:cNvSpPr/>
          <p:nvPr/>
        </p:nvSpPr>
        <p:spPr>
          <a:xfrm>
            <a:off x="6217920" y="1874520"/>
            <a:ext cx="109728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/>
          <p:nvPr/>
        </p:nvSpPr>
        <p:spPr>
          <a:xfrm>
            <a:off x="640080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Dependency, Morphology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3.7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2377440"/>
            <a:ext cx="566928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6217920" y="2377440"/>
            <a:ext cx="109728" cy="457200"/>
          </a:xfrm>
          <a:prstGeom prst="rect">
            <a:avLst/>
          </a:prstGeom>
          <a:solidFill>
            <a:srgbClr val="7B2C2C"/>
          </a:solidFill>
          <a:ln w="12700">
            <a:solidFill>
              <a:srgbClr val="7B2C2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/>
          <p:nvPr/>
        </p:nvSpPr>
        <p:spPr>
          <a:xfrm>
            <a:off x="640080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Tense / Aspect / Mood / Voice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Rules Engine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2880360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2" name="Shape 30"/>
          <p:cNvSpPr/>
          <p:nvPr/>
        </p:nvSpPr>
        <p:spPr>
          <a:xfrm>
            <a:off x="6217920" y="2880360"/>
            <a:ext cx="109728" cy="457200"/>
          </a:xfrm>
          <a:prstGeom prst="rect">
            <a:avLst/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Text 31"/>
          <p:cNvSpPr/>
          <p:nvPr/>
        </p:nvSpPr>
        <p:spPr>
          <a:xfrm>
            <a:off x="640080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Boundaries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0120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Builder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3383280"/>
            <a:ext cx="566928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6" name="Shape 34"/>
          <p:cNvSpPr/>
          <p:nvPr/>
        </p:nvSpPr>
        <p:spPr>
          <a:xfrm>
            <a:off x="6217920" y="3383280"/>
            <a:ext cx="109728" cy="4572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Text 35"/>
          <p:cNvSpPr/>
          <p:nvPr/>
        </p:nvSpPr>
        <p:spPr>
          <a:xfrm>
            <a:off x="640080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Level (A1–C2)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0120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ML (XGBoost)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7920" y="3886200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0" name="Shape 38"/>
          <p:cNvSpPr/>
          <p:nvPr/>
        </p:nvSpPr>
        <p:spPr>
          <a:xfrm>
            <a:off x="6217920" y="3886200"/>
            <a:ext cx="109728" cy="457200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1" name="Text 39"/>
          <p:cNvSpPr/>
          <p:nvPr/>
        </p:nvSpPr>
        <p:spPr>
          <a:xfrm>
            <a:off x="640080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Notes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60120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+ Templates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17920" y="4389120"/>
            <a:ext cx="566928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4" name="Shape 42"/>
          <p:cNvSpPr/>
          <p:nvPr/>
        </p:nvSpPr>
        <p:spPr>
          <a:xfrm>
            <a:off x="6217920" y="4389120"/>
            <a:ext cx="109728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5" name="Text 43"/>
          <p:cNvSpPr/>
          <p:nvPr/>
        </p:nvSpPr>
        <p:spPr>
          <a:xfrm>
            <a:off x="6400800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 Transcription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601200" y="4389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espeak-ng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17920" y="4892040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8" name="Shape 46"/>
          <p:cNvSpPr/>
          <p:nvPr/>
        </p:nvSpPr>
        <p:spPr>
          <a:xfrm>
            <a:off x="6217920" y="4892040"/>
            <a:ext cx="109728" cy="457200"/>
          </a:xfrm>
          <a:prstGeom prst="rect">
            <a:avLst/>
          </a:prstGeom>
          <a:solidFill>
            <a:srgbClr val="0D4A6B"/>
          </a:solidFill>
          <a:ln w="12700">
            <a:solidFill>
              <a:srgbClr val="0D4A6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9" name="Text 47"/>
          <p:cNvSpPr/>
          <p:nvPr/>
        </p:nvSpPr>
        <p:spPr>
          <a:xfrm>
            <a:off x="6400800" y="4892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(EN→RU)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601200" y="4892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M2M100 (Meta)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217920" y="5394960"/>
            <a:ext cx="566928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2" name="Shape 50"/>
          <p:cNvSpPr/>
          <p:nvPr/>
        </p:nvSpPr>
        <p:spPr>
          <a:xfrm>
            <a:off x="6217920" y="5394960"/>
            <a:ext cx="109728" cy="457200"/>
          </a:xfrm>
          <a:prstGeom prst="rect">
            <a:avLst/>
          </a:prstGeom>
          <a:solidFill>
            <a:srgbClr val="2E5B1A"/>
          </a:solidFill>
          <a:ln w="12700">
            <a:solidFill>
              <a:srgbClr val="2E5B1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3" name="Text 51"/>
          <p:cNvSpPr/>
          <p:nvPr/>
        </p:nvSpPr>
        <p:spPr>
          <a:xfrm>
            <a:off x="6400800" y="5394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601200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 (NLTK)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1161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Components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6537960"/>
            <a:ext cx="11996928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ELA: English Language Analysis Pipeline  |  Vladyslav Rastvorov  |  MTU Cork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868680"/>
            <a:ext cx="3749040" cy="5120640"/>
          </a:xfrm>
          <a:prstGeom prst="rect">
            <a:avLst/>
          </a:prstGeom>
          <a:solidFill>
            <a:srgbClr val="F4F9FF"/>
          </a:solidFill>
          <a:ln w="1905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347472" y="868680"/>
            <a:ext cx="3749040" cy="4572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438912" y="868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Classification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" y="1417320"/>
            <a:ext cx="3474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ML Ensemble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(primary)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 Regression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3,000-sentence CEFR-balanced corpus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POS ratios, sentence length, syntactic depth, TTR, dependency complexity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A1 / A2 / B1 / B2 / C1 / C2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51960" y="868680"/>
            <a:ext cx="3749040" cy="5120640"/>
          </a:xfrm>
          <a:prstGeom prst="rect">
            <a:avLst/>
          </a:prstGeom>
          <a:solidFill>
            <a:srgbClr val="F4F9FF"/>
          </a:solidFill>
          <a:ln w="1905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4251960" y="868680"/>
            <a:ext cx="3749040" cy="457200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4343400" y="868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Notes (T5)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0" y="1417320"/>
            <a:ext cx="3474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T5-base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Input: grammar structure + context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pedagogical explanation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fallback system: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200+ deterministic rule-based templates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Grammar pattern registry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Context-aware note selection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ensures 100% coverage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56448" y="868680"/>
            <a:ext cx="3749040" cy="5120640"/>
          </a:xfrm>
          <a:prstGeom prst="rect">
            <a:avLst/>
          </a:prstGeom>
          <a:solidFill>
            <a:srgbClr val="F4F9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8156448" y="868680"/>
            <a:ext cx="37490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8247888" y="868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(Whisper)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93608" y="1417320"/>
            <a:ext cx="3474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(base/medium)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Client-side ASR — no cloud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FFmpeg pre-processing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MP3, MP4, WAV, WEBM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Timestamp-aligned transcription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split by platform: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Desktop (Tauri): ASR, translation &amp; TTS run in Web Worker — fully client-side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PWA: full pipeline runs on backend (upload → process → return)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always from backend (espeak-ng GPL — phonetics license constraint). All artifacts stored locally (IndexedDB).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1161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Enrichments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6537960"/>
            <a:ext cx="11996928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ELA: English Language Analysis Pipeline  |  Vladyslav Rastvorov  |  MTU Cork 2025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91440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enrichment stages are modular and independently configurable via runtime settings: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" y="1417320"/>
            <a:ext cx="27432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347472" y="1417320"/>
            <a:ext cx="27432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438912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(EN→RU)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M2M100 — Meta, 418M parameters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" y="2514600"/>
            <a:ext cx="25603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and word-level EN→RU translation. Cached locally to avoid repeated inference. Extensible to 100+ language pairs.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19272" y="1417320"/>
            <a:ext cx="27432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3319272" y="1417320"/>
            <a:ext cx="27432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3410712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 Transcription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10712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espeak-ng (UK &amp; US)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0712" y="2514600"/>
            <a:ext cx="25603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and X-SAMPA transcription per word and phrase. UK/US variants configurable. Useful for pronunciation learning.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91072" y="1417320"/>
            <a:ext cx="27432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6291072" y="1417320"/>
            <a:ext cx="2743200" cy="54864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6382512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82512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 (NLTK)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2512" y="2514600"/>
            <a:ext cx="25603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synonym extraction with morphological normalisation. POS-filtered to match word sense in sentence context.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262872" y="1417320"/>
            <a:ext cx="27432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Shape 22"/>
          <p:cNvSpPr/>
          <p:nvPr/>
        </p:nvSpPr>
        <p:spPr>
          <a:xfrm>
            <a:off x="9262872" y="1417320"/>
            <a:ext cx="2743200" cy="548640"/>
          </a:xfrm>
          <a:prstGeom prst="rect">
            <a:avLst/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/>
          <p:nvPr/>
        </p:nvSpPr>
        <p:spPr>
          <a:xfrm>
            <a:off x="9354312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Export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54312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33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(SQLite)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54312" y="2514600"/>
            <a:ext cx="25603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Post-analysis vocabulary list with CEFR levels, translations, and phonetics. Exportable as CSV/JSON for flashcard tools.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1161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Application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6537960"/>
            <a:ext cx="11996928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ELA: English Language Analysis Pipeline  |  Vladyslav Rastvorov  |  MTU Cork 2025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91440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 |  Vite 5  |  Tauri 2 (Desktop)  |  SQL.js  |  FFmpeg.js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417320"/>
            <a:ext cx="36576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347472" y="1417320"/>
            <a:ext cx="3657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438912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" y="19659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management with local SQLite persistence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79392" y="1417320"/>
            <a:ext cx="36576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4279392" y="1417320"/>
            <a:ext cx="36576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4370832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70832" y="19659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media file browser with metadata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11312" y="1417320"/>
            <a:ext cx="36576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Shape 15"/>
          <p:cNvSpPr/>
          <p:nvPr/>
        </p:nvSpPr>
        <p:spPr>
          <a:xfrm>
            <a:off x="8211312" y="1417320"/>
            <a:ext cx="36576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/>
          <p:nvPr/>
        </p:nvSpPr>
        <p:spPr>
          <a:xfrm>
            <a:off x="8302752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02752" y="19659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text/media for analysis with progress tracking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47472" y="3886200"/>
            <a:ext cx="36576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1" name="Shape 19"/>
          <p:cNvSpPr/>
          <p:nvPr/>
        </p:nvSpPr>
        <p:spPr>
          <a:xfrm>
            <a:off x="347472" y="3886200"/>
            <a:ext cx="3657600" cy="4572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/>
          <p:nvPr/>
        </p:nvSpPr>
        <p:spPr>
          <a:xfrm>
            <a:off x="438912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38912" y="44348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tree view of linguistic contracts; inline editing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279392" y="3886200"/>
            <a:ext cx="36576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Shape 23"/>
          <p:cNvSpPr/>
          <p:nvPr/>
        </p:nvSpPr>
        <p:spPr>
          <a:xfrm>
            <a:off x="4279392" y="3886200"/>
            <a:ext cx="3657600" cy="457200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/>
          <p:nvPr/>
        </p:nvSpPr>
        <p:spPr>
          <a:xfrm>
            <a:off x="4370832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370832" y="44348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Post-analysis word list with CEFR, translation, export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11312" y="3886200"/>
            <a:ext cx="36576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9" name="Shape 27"/>
          <p:cNvSpPr/>
          <p:nvPr/>
        </p:nvSpPr>
        <p:spPr>
          <a:xfrm>
            <a:off x="8211312" y="3886200"/>
            <a:ext cx="3657600" cy="457200"/>
          </a:xfrm>
          <a:prstGeom prst="rect">
            <a:avLst/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/>
          <p:nvPr/>
        </p:nvSpPr>
        <p:spPr>
          <a:xfrm>
            <a:off x="8302752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302752" y="44348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settings: offline/online mode, providers, API keys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1161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6537960"/>
            <a:ext cx="11996928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ELA: English Language Analysis Pipeline  |  Vladyslav Rastvorov  |  MTU Cork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91440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347472" y="100584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93192" y="1792224"/>
            <a:ext cx="256032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Accuracy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19272" y="91440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3319272" y="100584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6A0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364992" y="1792224"/>
            <a:ext cx="256032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 Score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(T5 Notes)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91072" y="91440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6291072" y="100584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336792" y="1792224"/>
            <a:ext cx="256032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WER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(Whisper base)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62872" y="91440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9262872" y="100584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308592" y="1792224"/>
            <a:ext cx="256032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Analysis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Classification — Confusion Pattern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7472" y="301752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misclassifications occur at adjacent CEFR levels (e.g. A2↔B1, B1↔B2), which is expected given the gradual nature of language proficiency progression. The model performs best on A1 (92%) and C2 (88%) extremes where grammatical features are most distinctive.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per CEFR Level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30175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49440" y="3072384"/>
            <a:ext cx="4626864" cy="32918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/>
          <p:nvPr/>
        </p:nvSpPr>
        <p:spPr>
          <a:xfrm>
            <a:off x="11622024" y="301752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354787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49440" y="3602736"/>
            <a:ext cx="3973068" cy="329184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/>
          <p:nvPr/>
        </p:nvSpPr>
        <p:spPr>
          <a:xfrm>
            <a:off x="10968228" y="354787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407822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49440" y="4133088"/>
            <a:ext cx="3721608" cy="3291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/>
          <p:nvPr/>
        </p:nvSpPr>
        <p:spPr>
          <a:xfrm>
            <a:off x="10716768" y="407822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4608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949440" y="4663440"/>
            <a:ext cx="3822192" cy="3291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Text 31"/>
          <p:cNvSpPr/>
          <p:nvPr/>
        </p:nvSpPr>
        <p:spPr>
          <a:xfrm>
            <a:off x="10817352" y="460857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0" y="51389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949440" y="5193792"/>
            <a:ext cx="3570732" cy="329184"/>
          </a:xfrm>
          <a:prstGeom prst="rect">
            <a:avLst/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6" name="Text 34"/>
          <p:cNvSpPr/>
          <p:nvPr/>
        </p:nvSpPr>
        <p:spPr>
          <a:xfrm>
            <a:off x="10565892" y="513892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33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0" y="56692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49440" y="5724144"/>
            <a:ext cx="4425696" cy="329184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/>
          <p:nvPr/>
        </p:nvSpPr>
        <p:spPr>
          <a:xfrm>
            <a:off x="11420856" y="566928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0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1161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Demonstration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6537960"/>
            <a:ext cx="11996928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ELA: English Language Analysis Pipeline  |  Vladyslav Rastvorov  |  MTU Cork 2025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91440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ELA system processing an audio file through the full pipeline: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" y="1417320"/>
            <a:ext cx="3657600" cy="219456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347472" y="1417320"/>
            <a:ext cx="548640" cy="2194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347472" y="1417320"/>
            <a:ext cx="548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87552" y="1554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Audio File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20116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uploaded via PWA. FFmpeg.js extracts audio client-side. No data leaves the device.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79392" y="1417320"/>
            <a:ext cx="3657600" cy="2194560"/>
          </a:xfrm>
          <a:prstGeom prst="rect">
            <a:avLst/>
          </a:prstGeom>
          <a:solidFill>
            <a:srgbClr val="F4F9FF"/>
          </a:solidFill>
          <a:ln w="19050">
            <a:solidFill>
              <a:srgbClr val="7B2C2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4279392" y="1417320"/>
            <a:ext cx="548640" cy="2194560"/>
          </a:xfrm>
          <a:prstGeom prst="rect">
            <a:avLst/>
          </a:prstGeom>
          <a:solidFill>
            <a:srgbClr val="7B2C2C"/>
          </a:solidFill>
          <a:ln w="12700">
            <a:solidFill>
              <a:srgbClr val="7B2C2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4279392" y="1417320"/>
            <a:ext cx="548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19472" y="1554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9472" y="20116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Whisper transcribes audio to text with word-level timestamps.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11312" y="1417320"/>
            <a:ext cx="3657600" cy="2194560"/>
          </a:xfrm>
          <a:prstGeom prst="rect">
            <a:avLst/>
          </a:prstGeom>
          <a:solidFill>
            <a:srgbClr val="F4F9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8211312" y="1417320"/>
            <a:ext cx="548640" cy="2194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8211312" y="1417320"/>
            <a:ext cx="548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851392" y="1554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51392" y="20116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parses sentences. TAM engine extracts grammar. Phrase builder creates hierarchy.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7472" y="3840480"/>
            <a:ext cx="3657600" cy="2194560"/>
          </a:xfrm>
          <a:prstGeom prst="rect">
            <a:avLst/>
          </a:prstGeom>
          <a:solidFill>
            <a:srgbClr val="F4F9FF"/>
          </a:solidFill>
          <a:ln w="1905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Shape 22"/>
          <p:cNvSpPr/>
          <p:nvPr/>
        </p:nvSpPr>
        <p:spPr>
          <a:xfrm>
            <a:off x="347472" y="3840480"/>
            <a:ext cx="548640" cy="219456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/>
          <p:nvPr/>
        </p:nvSpPr>
        <p:spPr>
          <a:xfrm>
            <a:off x="347472" y="3840480"/>
            <a:ext cx="548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87552" y="3977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Enrichment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7552" y="4434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classifier assigns proficiency per sentence. T5 generates linguistic notes for each construct.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279392" y="3840480"/>
            <a:ext cx="3657600" cy="2194560"/>
          </a:xfrm>
          <a:prstGeom prst="rect">
            <a:avLst/>
          </a:prstGeom>
          <a:solidFill>
            <a:srgbClr val="F4F9FF"/>
          </a:solidFill>
          <a:ln w="1905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9" name="Shape 27"/>
          <p:cNvSpPr/>
          <p:nvPr/>
        </p:nvSpPr>
        <p:spPr>
          <a:xfrm>
            <a:off x="4279392" y="3840480"/>
            <a:ext cx="548640" cy="2194560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/>
          <p:nvPr/>
        </p:nvSpPr>
        <p:spPr>
          <a:xfrm>
            <a:off x="4279392" y="3840480"/>
            <a:ext cx="548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919472" y="3977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 View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19472" y="4434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tree displays Sentence → Phrase → Word hierarchy with annotations, CEFR badges, and phonetics.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211312" y="3840480"/>
            <a:ext cx="3657600" cy="2194560"/>
          </a:xfrm>
          <a:prstGeom prst="rect">
            <a:avLst/>
          </a:prstGeom>
          <a:solidFill>
            <a:srgbClr val="F4F9FF"/>
          </a:solidFill>
          <a:ln w="1905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211312" y="3840480"/>
            <a:ext cx="548640" cy="2194560"/>
          </a:xfrm>
          <a:prstGeom prst="rect">
            <a:avLst/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/>
          <p:nvPr/>
        </p:nvSpPr>
        <p:spPr>
          <a:xfrm>
            <a:off x="8211312" y="3840480"/>
            <a:ext cx="548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8851392" y="3977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Export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51392" y="4434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exports vocabulary list as CSV with CEFR levels and translations for further study.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1161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6537960"/>
            <a:ext cx="11996928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ELA: English Language Analysis Pipeline  |  Vladyslav Rastvorov  |  MTU Cork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914400"/>
            <a:ext cx="5577840" cy="1737360"/>
          </a:xfrm>
          <a:prstGeom prst="rect">
            <a:avLst/>
          </a:prstGeom>
          <a:solidFill>
            <a:srgbClr val="F4F0E8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484632" y="1005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33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CEFR Label Ambiguity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" y="1463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Adjacent levels (A2/B1) are inherently subjective. Solved by using an ensemble of 3 classifiers and corpus-level calibration.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914400"/>
            <a:ext cx="5577840" cy="1737360"/>
          </a:xfrm>
          <a:prstGeom prst="rect">
            <a:avLst/>
          </a:prstGeom>
          <a:solidFill>
            <a:srgbClr val="F9F0F0"/>
          </a:solidFill>
          <a:ln w="12700">
            <a:solidFill>
              <a:srgbClr val="7B2C2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6336792" y="1005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Offline ML Model Size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36792" y="1463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T5-base is 230MB — too large for in-browser use. Solved by running T5 entirely server-side for all linguistic note generation.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" y="2834640"/>
            <a:ext cx="5577840" cy="1737360"/>
          </a:xfrm>
          <a:prstGeom prst="rect">
            <a:avLst/>
          </a:prstGeom>
          <a:solidFill>
            <a:srgbClr val="EBF7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484632" y="2926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TAM Rule Coverage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" y="33832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English grammar has 1000+ edge cases. Solved by prioritising the 50 highest-frequency patterns covering &gt;95% of real-world text.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9632" y="2834640"/>
            <a:ext cx="5577840" cy="1737360"/>
          </a:xfrm>
          <a:prstGeom prst="rect">
            <a:avLst/>
          </a:prstGeom>
          <a:solidFill>
            <a:srgbClr val="EEF5EA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6336792" y="2926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Cross-Platform Media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36792" y="33832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Audio codec support varies across platforms. Solved by FFmpeg.js WebAssembly compilation for universal browser-side conversion.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7472" y="4754880"/>
            <a:ext cx="5577840" cy="1737360"/>
          </a:xfrm>
          <a:prstGeom prst="rect">
            <a:avLst/>
          </a:prstGeom>
          <a:solidFill>
            <a:srgbClr val="EEF0F8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484632" y="4846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Phonetics Licensing (GPL)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" y="53035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espeak-ng (IPA phonetic transcription) is GPL-licensed and cannot be bundled client-side. Solved by routing phonetics exclusively through the backend on both platforms.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99632" y="4754880"/>
            <a:ext cx="5577840" cy="1737360"/>
          </a:xfrm>
          <a:prstGeom prst="rect">
            <a:avLst/>
          </a:prstGeom>
          <a:solidFill>
            <a:srgbClr val="F5EEF8"/>
          </a:solidFill>
          <a:ln w="127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/>
          <p:nvPr/>
        </p:nvSpPr>
        <p:spPr>
          <a:xfrm>
            <a:off x="6336792" y="4846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A0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Whisper Latency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36792" y="53035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Base model transcription of 5min audio takes ~45s locally. Mitigated by streaming display and asynchronous job-queue architecture.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1161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6537960"/>
            <a:ext cx="11996928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ELA: English Language Analysis Pipeline  |  Vladyslav Rastvorov  |  MTU Cork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914400"/>
            <a:ext cx="5486400" cy="5120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Successfully built an offline-first, privacy-preserving linguistic analysis system.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404872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Deterministic NLP + lightweight ML achieves 78.3% CEFR accuracy without cloud dependency.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209544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Multi-modal pipeline (text, PDF, audio, video) deployed as Android PWA and Linux desktop app (Tauri 2).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014216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Modular architecture (translation, phonetics, synonyms) is extensible without core changes.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81888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Strict JSON Schema contract validation ensures pipeline data integrity and extensibility.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6208" y="914400"/>
            <a:ext cx="5577840" cy="5120640"/>
          </a:xfrm>
          <a:prstGeom prst="rect">
            <a:avLst/>
          </a:prstGeom>
          <a:solidFill>
            <a:srgbClr val="F0F8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6327648" y="1005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83680" y="160020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additional target languages beyond EN→RU (Irish→English, Spanish→English, etc.).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242316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BERT/RoBERTa for improved CEFR prediction using contextual embeddings.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324612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analysis for live audio input and classroom use cases.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406908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Teacher-facing analytics dashboard for tracking student vocabulary growth.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48920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iOS and Windows distributions beyond the current Android PWA and Tauri .deb.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28090">
              <a:alpha val="9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2286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Vladyslav Rastvorov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Supervisor: Prof. Nasir Ahmad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Supervisor: Dr. Alex Vakaloudis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Science, MTU Cork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0" y="3657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0" y="96012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Honnibal, M. &amp; Montani, I. (2017). spaCy: Industrial-strength NLP.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709928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Raffel, C. et al. (2020). Exploring the Limits of Transfer Learning with T5. JMLR.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459736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Fan, A. et al. (2021). Beyond English-Centric Multilingual Machine Translation (M2M100). JMLR.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320954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Radford, A. et al. (2023). Robust Speech Recognition via Large-Scale Weak Supervision (Whisper). ICML.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3959352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Chen, T. &amp; Guestrin, C. (2016). XGBoost: A Scalable Tree Boosting System. ACM KDD.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470916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Council of Europe (2001). Common European Framework of Reference for Languages (CEFR).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5458968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Devlin, J. et al. (2019). BERT: Pre-training of Deep Bidirectional Transformers. NAACL.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1955</Words>
  <Application>Microsoft Office PowerPoint</Application>
  <PresentationFormat>Widescreen</PresentationFormat>
  <Paragraphs>298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ELA: English Language Analysis Pipeline</dc:title>
  <dc:subject>PptxGenJS Presentation</dc:subject>
  <dc:creator>Vladyslav Rastvorov</dc:creator>
  <cp:lastModifiedBy>Vladyslav Rastvorov</cp:lastModifiedBy>
  <cp:revision>2</cp:revision>
  <dcterms:created xsi:type="dcterms:W3CDTF">2026-03-17T11:58:36Z</dcterms:created>
  <dcterms:modified xsi:type="dcterms:W3CDTF">2026-03-17T21:07:22Z</dcterms:modified>
</cp:coreProperties>
</file>